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6"/>
  </p:notesMasterIdLst>
  <p:handoutMasterIdLst>
    <p:handoutMasterId r:id="rId37"/>
  </p:handoutMasterIdLst>
  <p:sldIdLst>
    <p:sldId id="324" r:id="rId5"/>
    <p:sldId id="280" r:id="rId6"/>
    <p:sldId id="297" r:id="rId7"/>
    <p:sldId id="281" r:id="rId8"/>
    <p:sldId id="300" r:id="rId9"/>
    <p:sldId id="296" r:id="rId10"/>
    <p:sldId id="301" r:id="rId11"/>
    <p:sldId id="283" r:id="rId12"/>
    <p:sldId id="306" r:id="rId13"/>
    <p:sldId id="303" r:id="rId14"/>
    <p:sldId id="304" r:id="rId15"/>
    <p:sldId id="305" r:id="rId16"/>
    <p:sldId id="307" r:id="rId17"/>
    <p:sldId id="285" r:id="rId18"/>
    <p:sldId id="298" r:id="rId19"/>
    <p:sldId id="277" r:id="rId20"/>
    <p:sldId id="302" r:id="rId21"/>
    <p:sldId id="262" r:id="rId22"/>
    <p:sldId id="263" r:id="rId23"/>
    <p:sldId id="264" r:id="rId24"/>
    <p:sldId id="265" r:id="rId25"/>
    <p:sldId id="266" r:id="rId26"/>
    <p:sldId id="267" r:id="rId27"/>
    <p:sldId id="269" r:id="rId28"/>
    <p:sldId id="270" r:id="rId29"/>
    <p:sldId id="271" r:id="rId30"/>
    <p:sldId id="274" r:id="rId31"/>
    <p:sldId id="275" r:id="rId32"/>
    <p:sldId id="325" r:id="rId33"/>
    <p:sldId id="278" r:id="rId34"/>
    <p:sldId id="273" r:id="rId35"/>
  </p:sldIdLst>
  <p:sldSz cx="9144000" cy="6858000" type="screen4x3"/>
  <p:notesSz cx="6794500" cy="9906000"/>
  <p:defaultTextStyle>
    <a:defPPr>
      <a:defRPr lang="fi-FI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4C5DF8E-5614-4DDE-829A-AE184B076058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1DC0960-36CE-4780-80EF-1BDBB3F0B1BD}" type="slidenum">
              <a:rPr lang="en-US" altLang="fi-FI"/>
              <a:pPr/>
              <a:t>‹#›</a:t>
            </a:fld>
            <a:endParaRPr lang="en-US" altLang="fi-F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D426C3-B807-4B03-A2F3-014FAE4DF205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38250"/>
            <a:ext cx="44577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67263"/>
            <a:ext cx="5435600" cy="39004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911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0911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44183-BF5D-46A2-B803-F40CD99E0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36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41ABD-E653-E1CE-FE00-340D77530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DCFC3-8ED7-7519-77D8-88C7B993C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02275-885D-ACB7-0D99-F6C524F8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0C21CA-0BA5-4C50-A32B-A2823C707168}" type="datetime1">
              <a:rPr lang="en-US" smtClean="0"/>
              <a:t>1/23/2026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2403C-4EAA-BEB3-3C3D-70DA5136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5C42E-4A6F-87C6-3181-BDA529904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443C07-C408-40DB-8DA8-60FFB9CC2BB6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3065212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960F-DD6F-C457-D701-86FDD0B99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EC44A-A963-C081-9E7C-F9518B557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1D3E-11C4-C67A-4E5B-595CB7F2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654145-EAD5-4EBB-806E-99B18751EBE4}" type="datetime1">
              <a:rPr lang="en-US" smtClean="0"/>
              <a:t>1/23/2026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98634-128C-1B83-6348-DC7C7A02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B7239-C204-7FA4-FAAC-DABD386A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599344-3B8F-483C-AD42-6EFB12D915EB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407847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38C8-CD33-D490-8785-AC07EAAA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F65C3-3597-0F77-4CBD-550882A19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C5A9F-7A22-0C2F-22E1-BD490169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7172C0-D4FB-4FDF-AD65-6BC6C185934D}" type="datetime1">
              <a:rPr lang="en-US" smtClean="0"/>
              <a:t>1/23/2026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A4A3B-63E8-D9A4-5598-2DBB9375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0ACED-3D8F-D5EB-8F49-15902E325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AFD4A9-0C89-425C-AD6B-64E7C4A78012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384771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F4F6D-261B-FF19-0CB7-85AC766F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BF91A-275C-FAC4-BC1A-80159B4D5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761FC-5BE5-03DF-12A5-47044A2B9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5F1D8-BD28-4AD7-8F28-3D6A65E3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B341FA-DC08-496C-9042-1948B97AA15E}" type="datetime1">
              <a:rPr lang="en-US" smtClean="0"/>
              <a:t>1/23/2026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7102E-0EE1-7ECB-71B8-8FFAE7264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76A7F-91FA-3AB7-D5C5-A2DD135D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FC1FA4-3ED5-4CD3-8F4A-2C639AC731AA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3414035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7CD3-70EA-E84B-1C57-7699790C9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D760-2319-C056-8960-EC96F66B4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02F1A-21E6-600F-ECD1-4D6784892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18C0CE-E29D-4F29-9CB2-5932F9C61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71392-8E1C-AF6F-BF07-6A82D8211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3F0FC-8303-47C3-3BB3-4BD135B4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3E0F8BF-27ED-4069-A3A6-58D37CA4F802}" type="datetime1">
              <a:rPr lang="en-US" smtClean="0"/>
              <a:t>1/23/2026</a:t>
            </a:fld>
            <a:endParaRPr lang="fi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1CCC69-EEBE-7609-749F-62E46BCA0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B68D1B-9343-6B1B-C145-DF932906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DAAF0-7D5F-4944-8716-60F553FC13D8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116746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2C8A-FC72-564A-AE5A-6B456F575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64D2C-6930-1524-DE12-BF32D236C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35BA3F-FD55-48F6-A03B-040515050B7E}" type="datetime1">
              <a:rPr lang="en-US" smtClean="0"/>
              <a:t>1/23/2026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7DB7C8-0175-58EE-F681-26158A780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C3544E-E733-7C14-7CCE-58D73695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27DE11-FC65-435F-998C-AFFA66106308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1473724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4B772F-FBDE-B18A-3F18-B4A56640D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8D20F4-1215-44FC-85A8-78F560DFCEA2}" type="datetime1">
              <a:rPr lang="en-US" smtClean="0"/>
              <a:t>1/23/2026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FAEEF5-79F7-4331-6D02-A022B374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F1B0A-AE0D-2EDA-B8F4-29E23270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64E9F2-2A4B-4BF5-8485-433FC1404F76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146379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1C40-A49D-B074-7597-EB70F5F4D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AB2C2-01BA-6A67-A445-02BCA5155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B2C83-7C03-BC00-2BCC-27B1A6B84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DB00C-6EEB-5D91-749B-EF83B9558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B46DA5-B4AE-4966-8150-CB52BC53CE66}" type="datetime1">
              <a:rPr lang="en-US" smtClean="0"/>
              <a:t>1/23/2026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84DDC-9358-2803-6B3E-61A0C1A2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B5C8C-C4F6-A4DE-EEEF-DDFCB01F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C6AD5-D85D-4DB8-96FD-FB2B5E1A2406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1673728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FE6DA-9800-AB2B-EF7F-DE480884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F9CD96-FF46-781D-2BB1-AB2712AA6E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B89CB-FD7D-94FB-BEA5-62E33F32A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7A5AC-9364-A946-FCBC-9B461F66D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F68AF0-5ADC-443B-8D0A-B68A7EF38017}" type="datetime1">
              <a:rPr lang="en-US" smtClean="0"/>
              <a:t>1/23/2026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93166-03D4-F493-BE1A-CCE867AC2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6858B-731F-8822-0F5D-A2B2958C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7E8888-FBEC-416B-9590-E0850D7337BA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2145162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D506E-2940-C3EE-7C31-C7A62E0A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DDFDFA-4C72-838C-2B5A-82382DB76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31BE9-AEE1-115D-C022-8487E5B7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7CAFD3-6A22-4BDB-B422-4E863734D057}" type="datetime1">
              <a:rPr lang="en-US" smtClean="0"/>
              <a:t>1/23/2026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1E00B-1D29-5594-9EB8-313418804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11722-00CA-300D-3610-B1C5A271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6A53DB-716E-414D-A4ED-0804E40D673C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40006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EA232-D882-8D12-C808-5A714CFFA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DCBEED-6181-0AB6-73CD-8B201FC55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F84A8-A6D9-C9D0-D3B9-C7E27A4B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1C6195-7ACA-4CF4-B744-94B0522D3E8B}" type="datetime1">
              <a:rPr lang="en-US" smtClean="0"/>
              <a:t>1/23/2026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FAFD6-606F-8247-305C-2834233D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9F419-99C3-616C-7F5C-DC46BAA9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6F4A56-8CF9-4782-BA8E-8838100DA50D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374976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6DEA1-6B6A-5098-A8FA-5C4488B3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F0475-7CED-666F-A753-9B36E8337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1F775-5985-EEB7-9CA6-F9A454BF6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F9104EFD-DCA5-45C2-8FCF-D337857807EE}" type="datetime1">
              <a:rPr lang="en-US" smtClean="0"/>
              <a:t>1/23/2026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F00BF-5908-38F9-FA2C-38D1C896D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fi-FI"/>
              <a:t>Lecture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C179F-79C0-6549-F7F9-D1C297417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801364C4-AFA0-47B2-AE2E-BFF05FD7DFEB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2220497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B367-E45E-B0FD-D576-CD9BF3859A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fi-FI" b="1">
                <a:solidFill>
                  <a:schemeClr val="bg1"/>
                </a:solidFill>
              </a:rPr>
              <a:t>Embedded System Project (521423S)</a:t>
            </a:r>
            <a:br>
              <a:rPr lang="en-US" altLang="fi-FI" b="1">
                <a:solidFill>
                  <a:schemeClr val="bg1"/>
                </a:solidFill>
              </a:rPr>
            </a:br>
            <a:br>
              <a:rPr lang="en-US" altLang="fi-FI" b="1">
                <a:solidFill>
                  <a:schemeClr val="bg1"/>
                </a:solidFill>
              </a:rPr>
            </a:br>
            <a:r>
              <a:rPr lang="en-US" altLang="fi-FI" b="1">
                <a:solidFill>
                  <a:schemeClr val="bg1"/>
                </a:solidFill>
              </a:rPr>
              <a:t>Specifications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E1F11-2EAB-B91B-C268-58D318778B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fi-FI">
                <a:solidFill>
                  <a:schemeClr val="bg1"/>
                </a:solidFill>
              </a:rPr>
              <a:t>Siva Ariram</a:t>
            </a:r>
          </a:p>
          <a:p>
            <a:pPr>
              <a:lnSpc>
                <a:spcPct val="80000"/>
              </a:lnSpc>
            </a:pPr>
            <a:r>
              <a:rPr lang="en-US" altLang="fi-FI">
                <a:solidFill>
                  <a:schemeClr val="bg1"/>
                </a:solidFill>
              </a:rPr>
              <a:t>Antti Tikanmäki</a:t>
            </a:r>
          </a:p>
          <a:p>
            <a:pPr>
              <a:lnSpc>
                <a:spcPct val="80000"/>
              </a:lnSpc>
            </a:pPr>
            <a:r>
              <a:rPr lang="en-US" altLang="fi-FI">
                <a:solidFill>
                  <a:schemeClr val="bg1"/>
                </a:solidFill>
              </a:rPr>
              <a:t>Marko Kauppinen</a:t>
            </a:r>
          </a:p>
          <a:p>
            <a:pPr>
              <a:lnSpc>
                <a:spcPct val="80000"/>
              </a:lnSpc>
            </a:pPr>
            <a:r>
              <a:rPr lang="en-US" altLang="fi-FI">
                <a:solidFill>
                  <a:schemeClr val="bg1"/>
                </a:solidFill>
              </a:rPr>
              <a:t>Jaakko </a:t>
            </a:r>
            <a:r>
              <a:rPr lang="en-US" altLang="fi-FI" err="1">
                <a:solidFill>
                  <a:schemeClr val="bg1"/>
                </a:solidFill>
              </a:rPr>
              <a:t>Huikari</a:t>
            </a:r>
            <a:endParaRPr lang="en-US" altLang="fi-FI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0F1AB-246F-3BEF-1A2F-4C723718D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4A46B5-B435-413A-97F5-3C297540B29F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1/23/2026</a:t>
            </a:fld>
            <a:endParaRPr kumimoji="0" lang="fi-FI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46578-8408-CA8D-90E8-4A8D26546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Lecture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F18FA4-0BED-5C48-67F3-32DEC5E5C5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16632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38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/>
              <a:t>Design phases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860032" y="1447323"/>
            <a:ext cx="4125487" cy="4351338"/>
          </a:xfrm>
        </p:spPr>
        <p:txBody>
          <a:bodyPr/>
          <a:lstStyle/>
          <a:p>
            <a:pPr marL="457200" indent="-457200">
              <a:buFontTx/>
              <a:buNone/>
            </a:pPr>
            <a:r>
              <a:rPr lang="en-US" altLang="fi-FI" sz="1600"/>
              <a:t>In practice:</a:t>
            </a:r>
          </a:p>
          <a:p>
            <a:pPr marL="457200" indent="-457200">
              <a:buFontTx/>
              <a:buAutoNum type="arabicPeriod"/>
            </a:pPr>
            <a:r>
              <a:rPr lang="en-US" altLang="fi-FI" sz="1600"/>
              <a:t>Requirement specification, Technical specification, test plan, Schedule</a:t>
            </a:r>
            <a:br>
              <a:rPr lang="en-US" altLang="fi-FI" sz="1600"/>
            </a:br>
            <a:endParaRPr lang="en-US" altLang="fi-FI" sz="1600"/>
          </a:p>
          <a:p>
            <a:pPr marL="457200" indent="-457200">
              <a:buFontTx/>
              <a:buAutoNum type="arabicPeriod"/>
            </a:pPr>
            <a:r>
              <a:rPr lang="en-US" altLang="fi-FI" sz="1600"/>
              <a:t>Schematics, component ordering</a:t>
            </a:r>
            <a:br>
              <a:rPr lang="en-US" altLang="fi-FI" sz="1600"/>
            </a:br>
            <a:endParaRPr lang="en-US" altLang="fi-FI" sz="1600"/>
          </a:p>
          <a:p>
            <a:pPr marL="457200" indent="-457200">
              <a:buFontTx/>
              <a:buAutoNum type="arabicPeriod"/>
            </a:pPr>
            <a:r>
              <a:rPr lang="en-US" altLang="fi-FI" sz="1600"/>
              <a:t>Layout and manufacturing files, PCB ordering</a:t>
            </a:r>
            <a:br>
              <a:rPr lang="en-US" altLang="fi-FI" sz="1600"/>
            </a:br>
            <a:endParaRPr lang="en-US" altLang="fi-FI" sz="1600"/>
          </a:p>
          <a:p>
            <a:pPr marL="457200" indent="-457200">
              <a:buFontTx/>
              <a:buAutoNum type="arabicPeriod"/>
            </a:pPr>
            <a:r>
              <a:rPr lang="en-US" altLang="fi-FI" sz="1600"/>
              <a:t>Populating the board and electrical testing</a:t>
            </a:r>
            <a:br>
              <a:rPr lang="en-US" altLang="fi-FI" sz="1600"/>
            </a:br>
            <a:endParaRPr lang="en-US" altLang="fi-FI" sz="1600"/>
          </a:p>
          <a:p>
            <a:pPr marL="457200" indent="-457200">
              <a:buFontTx/>
              <a:buAutoNum type="arabicPeriod"/>
            </a:pPr>
            <a:r>
              <a:rPr lang="en-US" altLang="fi-FI" sz="1600"/>
              <a:t>Programming software and testing</a:t>
            </a:r>
            <a:br>
              <a:rPr lang="en-US" altLang="fi-FI" sz="1600"/>
            </a:br>
            <a:endParaRPr lang="en-US" altLang="fi-FI" sz="1600"/>
          </a:p>
          <a:p>
            <a:pPr marL="457200" indent="-457200">
              <a:buFontTx/>
              <a:buAutoNum type="arabicPeriod"/>
            </a:pPr>
            <a:r>
              <a:rPr lang="en-US" altLang="fi-FI" sz="1600"/>
              <a:t>Final demonstration and Final report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84313"/>
            <a:ext cx="4665663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0" y="1340768"/>
            <a:ext cx="4644008" cy="72008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932040" y="1700808"/>
            <a:ext cx="4355976" cy="72008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EDF6CB-32A0-C7EF-93D9-B035B9C0D5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CE5D7-E1CA-9CC6-B0F4-A8B80920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40A0A9-5A3B-4508-8AB9-4622C9022376}" type="datetime1">
              <a:rPr lang="en-US" smtClean="0"/>
              <a:t>1/23/2026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EFA768-F7EF-9301-F9B0-901BF444C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/>
              <a:t>Requirement specification</a:t>
            </a:r>
            <a:endParaRPr lang="en-US" altLang="fi-FI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fi-FI" sz="1600" b="1" dirty="0"/>
              <a:t>1: choose application and study parameters related to it!</a:t>
            </a:r>
          </a:p>
          <a:p>
            <a:pPr marL="0" indent="0">
              <a:buNone/>
            </a:pPr>
            <a:endParaRPr lang="en-US" altLang="fi-FI" sz="1600" b="1" dirty="0"/>
          </a:p>
          <a:p>
            <a:pPr marL="0" indent="0">
              <a:buNone/>
            </a:pPr>
            <a:r>
              <a:rPr lang="en-US" altLang="fi-FI" sz="1600" dirty="0"/>
              <a:t>General functionality</a:t>
            </a:r>
          </a:p>
          <a:p>
            <a:r>
              <a:rPr lang="en-US" altLang="fi-FI" sz="1600" dirty="0"/>
              <a:t>How should the device </a:t>
            </a:r>
            <a:r>
              <a:rPr lang="en-US" altLang="fi-FI" sz="1600" b="1" dirty="0"/>
              <a:t>interact with the environment</a:t>
            </a:r>
          </a:p>
          <a:p>
            <a:pPr lvl="1"/>
            <a:r>
              <a:rPr lang="en-US" altLang="fi-FI" sz="1600" dirty="0"/>
              <a:t>E.g. sense temperature with certain accuracy and alarm with buzzer if too warm</a:t>
            </a:r>
          </a:p>
          <a:p>
            <a:pPr lvl="1"/>
            <a:r>
              <a:rPr lang="en-US" altLang="fi-FI" sz="1600" dirty="0"/>
              <a:t>What is operating environment? Special requirements?</a:t>
            </a:r>
          </a:p>
          <a:p>
            <a:pPr marL="0" indent="0">
              <a:buNone/>
            </a:pPr>
            <a:r>
              <a:rPr lang="en-US" altLang="fi-FI" sz="1600" b="1" dirty="0"/>
              <a:t>User interfaces</a:t>
            </a:r>
          </a:p>
          <a:p>
            <a:pPr lvl="1"/>
            <a:r>
              <a:rPr lang="en-US" altLang="fi-FI" sz="1600" dirty="0"/>
              <a:t>What kind of information is shown to user?</a:t>
            </a:r>
          </a:p>
          <a:p>
            <a:pPr lvl="1"/>
            <a:r>
              <a:rPr lang="en-US" altLang="fi-FI" sz="1600" dirty="0"/>
              <a:t>how many characters on the screen? </a:t>
            </a:r>
          </a:p>
          <a:p>
            <a:pPr lvl="1"/>
            <a:r>
              <a:rPr lang="en-US" altLang="fi-FI" sz="1600" dirty="0"/>
              <a:t>Or some menu system?</a:t>
            </a:r>
          </a:p>
          <a:p>
            <a:pPr lvl="1"/>
            <a:r>
              <a:rPr lang="en-US" altLang="fi-FI" sz="1600" dirty="0"/>
              <a:t>How user controls the device?</a:t>
            </a:r>
          </a:p>
          <a:p>
            <a:r>
              <a:rPr lang="en-US" altLang="fi-FI" sz="1600" dirty="0"/>
              <a:t>Software </a:t>
            </a:r>
            <a:r>
              <a:rPr lang="en-US" altLang="fi-FI" sz="1600" b="1" dirty="0"/>
              <a:t>interfaces to other systems </a:t>
            </a:r>
            <a:r>
              <a:rPr lang="en-US" altLang="fi-FI" sz="1600" dirty="0"/>
              <a:t>(like PC)</a:t>
            </a:r>
          </a:p>
          <a:p>
            <a:pPr lvl="1"/>
            <a:r>
              <a:rPr lang="en-US" altLang="fi-FI" sz="1600" dirty="0"/>
              <a:t>What kind of information is sent to remote device</a:t>
            </a:r>
          </a:p>
          <a:p>
            <a:pPr lvl="1"/>
            <a:r>
              <a:rPr lang="en-US" altLang="fi-FI" sz="1600" dirty="0"/>
              <a:t>Do we need to use some standard</a:t>
            </a:r>
          </a:p>
          <a:p>
            <a:pPr lvl="1"/>
            <a:r>
              <a:rPr lang="en-US" altLang="fi-FI" sz="1600" dirty="0"/>
              <a:t>How many times in second?</a:t>
            </a:r>
          </a:p>
          <a:p>
            <a:pPr lvl="1"/>
            <a:r>
              <a:rPr lang="en-US" altLang="fi-FI" sz="1600" dirty="0"/>
              <a:t>What is latency from measurement to sending out data?</a:t>
            </a:r>
          </a:p>
          <a:p>
            <a:pPr lvl="1"/>
            <a:endParaRPr lang="en-US" altLang="fi-FI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C4BA93-E4D8-72F6-8890-AE8F24B060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6F2D2-1BC2-CA4F-70F1-33E8553B4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1F8FD8-BACD-40D9-A0B2-5332F2C7F99D}" type="datetime1">
              <a:rPr lang="en-US" smtClean="0"/>
              <a:t>1/23/2026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6C1BC-4929-646F-D74B-730EB11C5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/>
              <a:t>Requirement specification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fi-FI" dirty="0"/>
              <a:t>List of features</a:t>
            </a:r>
          </a:p>
          <a:p>
            <a:pPr lvl="1"/>
            <a:r>
              <a:rPr lang="en-US" altLang="fi-FI" sz="1600" dirty="0"/>
              <a:t>Figure out what is the </a:t>
            </a:r>
            <a:r>
              <a:rPr lang="en-US" altLang="fi-FI" sz="1600" b="1" dirty="0"/>
              <a:t>purpose and required functions </a:t>
            </a:r>
            <a:r>
              <a:rPr lang="en-US" altLang="fi-FI" sz="1600" dirty="0"/>
              <a:t>of your device</a:t>
            </a:r>
          </a:p>
          <a:p>
            <a:pPr lvl="1"/>
            <a:r>
              <a:rPr lang="en-US" altLang="fi-FI" sz="1600" b="1" dirty="0"/>
              <a:t>Refine</a:t>
            </a:r>
            <a:r>
              <a:rPr lang="en-US" altLang="fi-FI" sz="1600" dirty="0"/>
              <a:t> features</a:t>
            </a:r>
          </a:p>
          <a:p>
            <a:pPr lvl="1"/>
            <a:r>
              <a:rPr lang="en-US" altLang="fi-FI" sz="1600" dirty="0"/>
              <a:t>Organize to groups and</a:t>
            </a:r>
            <a:r>
              <a:rPr lang="en-US" altLang="fi-FI" sz="1600" b="1" dirty="0"/>
              <a:t> hierarchy </a:t>
            </a:r>
            <a:r>
              <a:rPr lang="en-US" altLang="fi-FI" sz="1600" dirty="0"/>
              <a:t>– </a:t>
            </a:r>
            <a:r>
              <a:rPr lang="en-US" altLang="fi-FI" sz="1600" dirty="0" err="1"/>
              <a:t>Mindmap</a:t>
            </a:r>
            <a:r>
              <a:rPr lang="en-US" altLang="fi-FI" sz="1600" dirty="0"/>
              <a:t> is good tool for this</a:t>
            </a:r>
          </a:p>
          <a:p>
            <a:r>
              <a:rPr lang="en-US" altLang="fi-FI" dirty="0"/>
              <a:t>Numerical requirement </a:t>
            </a:r>
          </a:p>
          <a:p>
            <a:pPr lvl="1"/>
            <a:r>
              <a:rPr lang="en-US" altLang="fi-FI" sz="1600" dirty="0"/>
              <a:t>storage, power, time of operation</a:t>
            </a:r>
          </a:p>
          <a:p>
            <a:pPr lvl="1"/>
            <a:r>
              <a:rPr lang="en-US" altLang="fi-FI" sz="1600" dirty="0"/>
              <a:t>Resolution, measurement ranges</a:t>
            </a:r>
          </a:p>
          <a:p>
            <a:pPr lvl="1"/>
            <a:r>
              <a:rPr lang="en-US" altLang="fi-FI" sz="1600" dirty="0"/>
              <a:t>Operating conditions (min, max values)</a:t>
            </a:r>
          </a:p>
          <a:p>
            <a:pPr lvl="1"/>
            <a:r>
              <a:rPr lang="en-US" altLang="fi-FI" sz="1600" dirty="0"/>
              <a:t>Frequency (samples per second?)</a:t>
            </a:r>
          </a:p>
          <a:p>
            <a:r>
              <a:rPr lang="en-US" altLang="fi-FI" dirty="0"/>
              <a:t>Limit the search of used components</a:t>
            </a:r>
          </a:p>
          <a:p>
            <a:pPr lvl="1"/>
            <a:r>
              <a:rPr lang="en-US" altLang="fi-FI" sz="1600" dirty="0"/>
              <a:t>You need to have numerical requirements when selecting for example temperature sensor from  &gt;1500 options available in </a:t>
            </a:r>
            <a:r>
              <a:rPr lang="en-US" altLang="fi-FI" sz="1600" dirty="0" err="1"/>
              <a:t>Digikey</a:t>
            </a:r>
            <a:endParaRPr lang="en-US" altLang="fi-FI" sz="1600" dirty="0"/>
          </a:p>
          <a:p>
            <a:pPr lvl="1"/>
            <a:r>
              <a:rPr lang="en-US" altLang="fi-FI" sz="1600" dirty="0"/>
              <a:t>Use components that are in stock!</a:t>
            </a:r>
          </a:p>
          <a:p>
            <a:r>
              <a:rPr lang="en-US" altLang="fi-FI" dirty="0"/>
              <a:t>Use numbering and hierarchy:</a:t>
            </a:r>
          </a:p>
          <a:p>
            <a:pPr lvl="1"/>
            <a:r>
              <a:rPr lang="en-US" altLang="fi-FI" sz="1600" dirty="0"/>
              <a:t>Req_1: User interface, </a:t>
            </a:r>
          </a:p>
          <a:p>
            <a:pPr lvl="1"/>
            <a:r>
              <a:rPr lang="en-US" altLang="fi-FI" sz="1600" dirty="0"/>
              <a:t>Req_1.1: operating buttons, …</a:t>
            </a:r>
          </a:p>
          <a:p>
            <a:pPr lvl="1"/>
            <a:r>
              <a:rPr lang="en-US" altLang="fi-FI" sz="1600" dirty="0"/>
              <a:t>Req_2: Measuring temperature</a:t>
            </a:r>
          </a:p>
          <a:p>
            <a:pPr lvl="2"/>
            <a:endParaRPr lang="en-US" altLang="fi-FI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DDE97B-8FD9-F6CC-20E9-68AB115FEC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C185F4-AE34-6D83-F716-D3835A06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57F04A-D6DC-47DD-90C8-600D24360160}" type="datetime1">
              <a:rPr lang="en-US" smtClean="0"/>
              <a:t>1/23/2026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4B489-4CAE-DB1B-EAC6-4527E5EFA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/>
              <a:t>Requirement specification</a:t>
            </a:r>
            <a:endParaRPr lang="en-US" altLang="fi-FI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fi-FI" sz="1600" b="1" dirty="0"/>
              <a:t>Internal interfaces</a:t>
            </a:r>
          </a:p>
          <a:p>
            <a:pPr lvl="1"/>
            <a:r>
              <a:rPr lang="en-US" altLang="fi-FI" sz="1600" dirty="0"/>
              <a:t>Sensors, Actuators, Storage</a:t>
            </a:r>
          </a:p>
          <a:p>
            <a:r>
              <a:rPr lang="en-US" altLang="fi-FI" sz="1600" b="1" dirty="0"/>
              <a:t>Amount of data</a:t>
            </a:r>
          </a:p>
          <a:p>
            <a:pPr lvl="1"/>
            <a:r>
              <a:rPr lang="en-US" altLang="fi-FI" sz="1600" dirty="0"/>
              <a:t>Where to store?</a:t>
            </a:r>
          </a:p>
          <a:p>
            <a:r>
              <a:rPr lang="en-US" altLang="fi-FI" sz="1600" b="1" dirty="0"/>
              <a:t>Physical size</a:t>
            </a:r>
          </a:p>
          <a:p>
            <a:pPr lvl="1"/>
            <a:r>
              <a:rPr lang="en-US" altLang="fi-FI" sz="1600" dirty="0"/>
              <a:t>case, design</a:t>
            </a:r>
          </a:p>
          <a:p>
            <a:r>
              <a:rPr lang="en-US" altLang="fi-FI" sz="1600" b="1" dirty="0"/>
              <a:t>Electrical requirements</a:t>
            </a:r>
          </a:p>
          <a:p>
            <a:pPr lvl="1"/>
            <a:r>
              <a:rPr lang="en-US" altLang="fi-FI" sz="1600" dirty="0"/>
              <a:t>Power source (battery, AC/DC adapter)</a:t>
            </a:r>
          </a:p>
          <a:p>
            <a:pPr lvl="1"/>
            <a:r>
              <a:rPr lang="en-US" altLang="fi-FI" sz="1600" dirty="0"/>
              <a:t>Operating voltages, try to have only one!</a:t>
            </a:r>
          </a:p>
          <a:p>
            <a:r>
              <a:rPr lang="en-US" altLang="fi-FI" sz="1600" b="1" dirty="0"/>
              <a:t>Operating time</a:t>
            </a:r>
          </a:p>
          <a:p>
            <a:pPr lvl="1"/>
            <a:r>
              <a:rPr lang="en-US" altLang="fi-FI" sz="1600" dirty="0"/>
              <a:t>One day, one week?</a:t>
            </a:r>
          </a:p>
          <a:p>
            <a:r>
              <a:rPr lang="en-US" altLang="fi-FI" sz="1600" b="1" dirty="0"/>
              <a:t>Price target</a:t>
            </a:r>
            <a:r>
              <a:rPr lang="en-US" altLang="fi-FI" sz="1600" dirty="0"/>
              <a:t> (&lt;100€)</a:t>
            </a:r>
          </a:p>
          <a:p>
            <a:endParaRPr lang="en-US" altLang="fi-FI" sz="1600" b="1" u="sng" dirty="0"/>
          </a:p>
          <a:p>
            <a:pPr marL="0" indent="0">
              <a:buNone/>
            </a:pPr>
            <a:r>
              <a:rPr lang="en-US" altLang="fi-FI" sz="2000" b="1" u="sng" dirty="0"/>
              <a:t>Include formulas and calculations to documentation!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0CAFA0-7929-4A41-E4DC-9299ADF5F2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5E8BE-BADC-9516-57B7-572EFEB1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57BF1F-9209-4065-8CD7-603CE81BEBEC}" type="datetime1">
              <a:rPr lang="en-US" smtClean="0"/>
              <a:t>1/23/2026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40596-C4A7-B10C-4A75-DD3B92B16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/>
              <a:t>Requirement specification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Tx/>
              <a:buNone/>
            </a:pPr>
            <a:endParaRPr lang="en-US" altLang="fi-FI" sz="1600"/>
          </a:p>
          <a:p>
            <a:pPr marL="342900" lvl="1" indent="-342900">
              <a:buFontTx/>
              <a:buNone/>
            </a:pPr>
            <a:r>
              <a:rPr lang="en-US" altLang="fi-FI" sz="1600"/>
              <a:t>Examples:</a:t>
            </a:r>
          </a:p>
          <a:p>
            <a:pPr marL="342900" lvl="1" indent="-342900"/>
            <a:r>
              <a:rPr lang="en-US" altLang="fi-FI" sz="1600"/>
              <a:t>logging  10 hours of motor temperatures from 4 places  twice in a second</a:t>
            </a:r>
          </a:p>
          <a:p>
            <a:pPr marL="342900" lvl="1" indent="-342900"/>
            <a:r>
              <a:rPr lang="en-US" altLang="fi-FI" sz="1600"/>
              <a:t>Store measurements to SD card with XX digits  </a:t>
            </a:r>
            <a:br>
              <a:rPr lang="en-US" altLang="fi-FI" sz="1600"/>
            </a:br>
            <a:r>
              <a:rPr lang="en-US" altLang="fi-FI" sz="1600"/>
              <a:t>-&gt; You will find requirements for memory, storage, power usage, calculation speed, size of device,…</a:t>
            </a:r>
          </a:p>
          <a:p>
            <a:pPr marL="342900" lvl="1" indent="-342900"/>
            <a:r>
              <a:rPr lang="en-US" altLang="fi-FI" sz="1600"/>
              <a:t>If device must measure temperature between -40 + 80, all components should work on these conditions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7541B7-6591-7DC9-011A-BB7A395C0D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44120-78AA-44F3-3084-F92A8466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632CBE-6AB2-4CAF-9D16-33C29E4101F0}" type="datetime1">
              <a:rPr lang="en-US" smtClean="0"/>
              <a:t>1/23/2026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BD4918-8B05-D4C7-8D33-5422FF32A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/>
              <a:t>Example of hierarchy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009182"/>
              </p:ext>
            </p:extLst>
          </p:nvPr>
        </p:nvGraphicFramePr>
        <p:xfrm>
          <a:off x="628650" y="1825625"/>
          <a:ext cx="7886699" cy="2379620"/>
        </p:xfrm>
        <a:graphic>
          <a:graphicData uri="http://schemas.openxmlformats.org/drawingml/2006/table">
            <a:tbl>
              <a:tblPr/>
              <a:tblGrid>
                <a:gridCol w="2582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2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3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Times New Roman"/>
                        </a:rPr>
                        <a:t>REQ NO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Times New Roman"/>
                        </a:rPr>
                        <a:t>Description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Times New Roman"/>
                        </a:rPr>
                        <a:t>Parameters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>
                      <a:noFill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3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1     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User interface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9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1.1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display - shows current value of sensor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update every 0.1s,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6 channels,</a:t>
                      </a:r>
                      <a:b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</a:b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digits:2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3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1.1.2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display size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20mm x 40mm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3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1.2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User can change configuration of device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3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1.2.1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user can change update speed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min 0.01s, max 5s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3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i-FI" sz="1200">
                          <a:latin typeface="Calibri"/>
                          <a:ea typeface="Calibri"/>
                          <a:cs typeface="Times New Roman"/>
                        </a:rPr>
                        <a:t>1.3</a:t>
                      </a: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User can start/stop measurement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3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Device measures Temperatures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6 channels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3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2.1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Device stores </a:t>
                      </a:r>
                      <a:r>
                        <a:rPr lang="en-US" sz="1200" i="1">
                          <a:latin typeface="Calibri"/>
                          <a:ea typeface="Calibri"/>
                          <a:cs typeface="Times New Roman"/>
                        </a:rPr>
                        <a:t>measurements to memory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update 1s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24DB30F5-4587-1040-C35B-05238CBD72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7C8E4-D82B-FDBD-1ABE-E17FEA5F3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56037E-087F-4D34-B531-A80859BE2884}" type="datetime1">
              <a:rPr lang="en-US" smtClean="0"/>
              <a:t>1/23/2026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E8927-9760-0E90-2EA2-39E8A2E35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/>
              <a:t>Technical specification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fi-FI" sz="1600" dirty="0"/>
              <a:t>Technical</a:t>
            </a:r>
            <a:r>
              <a:rPr lang="en-US" altLang="fi-FI" sz="1600" b="1" dirty="0"/>
              <a:t> solution </a:t>
            </a:r>
            <a:r>
              <a:rPr lang="en-US" altLang="fi-FI" sz="1600" dirty="0"/>
              <a:t>for requirement specifications</a:t>
            </a:r>
          </a:p>
          <a:p>
            <a:pPr>
              <a:defRPr/>
            </a:pPr>
            <a:r>
              <a:rPr lang="en-US" altLang="fi-FI" sz="1600" dirty="0"/>
              <a:t>In practice done in parallel with Requirement Specification</a:t>
            </a:r>
          </a:p>
          <a:p>
            <a:pPr>
              <a:defRPr/>
            </a:pPr>
            <a:r>
              <a:rPr lang="en-US" altLang="fi-FI" sz="1600" dirty="0"/>
              <a:t>Decide </a:t>
            </a:r>
            <a:r>
              <a:rPr lang="en-US" altLang="fi-FI" sz="1600" b="1" dirty="0"/>
              <a:t>software and hardware partition</a:t>
            </a:r>
          </a:p>
          <a:p>
            <a:pPr lvl="1">
              <a:defRPr/>
            </a:pPr>
            <a:r>
              <a:rPr lang="en-US" altLang="fi-FI" sz="1600" dirty="0"/>
              <a:t>iterative process where you plan your system components</a:t>
            </a:r>
          </a:p>
          <a:p>
            <a:pPr lvl="1">
              <a:defRPr/>
            </a:pPr>
            <a:r>
              <a:rPr lang="en-US" altLang="fi-FI" sz="1600" dirty="0"/>
              <a:t>What is done with hardware what is done with software</a:t>
            </a:r>
          </a:p>
          <a:p>
            <a:pPr lvl="2">
              <a:defRPr/>
            </a:pPr>
            <a:r>
              <a:rPr lang="en-US" altLang="fi-FI" sz="1600" dirty="0"/>
              <a:t>For example: decoder chip or software</a:t>
            </a:r>
          </a:p>
          <a:p>
            <a:pPr>
              <a:defRPr/>
            </a:pPr>
            <a:r>
              <a:rPr lang="en-US" altLang="fi-FI" sz="1600" dirty="0"/>
              <a:t>Use </a:t>
            </a:r>
            <a:r>
              <a:rPr lang="en-US" altLang="fi-FI" sz="1600" b="1" dirty="0"/>
              <a:t>block diagrams </a:t>
            </a:r>
            <a:r>
              <a:rPr lang="en-US" altLang="fi-FI" sz="1600" dirty="0"/>
              <a:t>to plan how different components communicate</a:t>
            </a:r>
          </a:p>
          <a:p>
            <a:pPr lvl="1">
              <a:defRPr/>
            </a:pPr>
            <a:r>
              <a:rPr lang="en-US" altLang="fi-FI" sz="1600" dirty="0"/>
              <a:t>In hardware, in software, and between</a:t>
            </a:r>
          </a:p>
          <a:p>
            <a:pPr>
              <a:defRPr/>
            </a:pPr>
            <a:r>
              <a:rPr lang="en-US" altLang="fi-FI" sz="1600" dirty="0"/>
              <a:t>Use </a:t>
            </a:r>
            <a:r>
              <a:rPr lang="en-US" altLang="fi-FI" sz="1600" b="1" dirty="0"/>
              <a:t>state/flow diagrams </a:t>
            </a:r>
            <a:r>
              <a:rPr lang="en-US" altLang="fi-FI" sz="1600" dirty="0"/>
              <a:t>to plan how the system is working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629592-32AC-2B72-8458-FE81EBF218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24AD8A-0F9C-2500-3BC6-94FEAC401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675BB2-6BA6-47DD-984E-85753B99B850}" type="datetime1">
              <a:rPr lang="en-US" smtClean="0"/>
              <a:t>1/23/2026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A95728-C76B-7F79-5351-0FC908DD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/>
              <a:t>Technical specification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en-US" altLang="fi-FI" u="sng" dirty="0"/>
              <a:t>Practical hints</a:t>
            </a:r>
          </a:p>
          <a:p>
            <a:pPr>
              <a:defRPr/>
            </a:pPr>
            <a:r>
              <a:rPr lang="en-US" altLang="fi-FI" sz="1600" b="1" dirty="0"/>
              <a:t>Avoid complexity </a:t>
            </a:r>
            <a:r>
              <a:rPr lang="en-US" altLang="fi-FI" sz="1600" dirty="0"/>
              <a:t>and exploit available solutions</a:t>
            </a:r>
          </a:p>
          <a:p>
            <a:pPr lvl="1">
              <a:defRPr/>
            </a:pPr>
            <a:r>
              <a:rPr lang="en-US" altLang="fi-FI" sz="1600" dirty="0"/>
              <a:t>Use web search to find similar projects (forums, hobbyists, </a:t>
            </a:r>
            <a:r>
              <a:rPr lang="en-US" altLang="fi-FI" sz="1600" dirty="0" err="1"/>
              <a:t>etc</a:t>
            </a:r>
            <a:r>
              <a:rPr lang="en-US" altLang="fi-FI" sz="1600" dirty="0"/>
              <a:t>)</a:t>
            </a:r>
          </a:p>
          <a:p>
            <a:pPr lvl="1">
              <a:defRPr/>
            </a:pPr>
            <a:r>
              <a:rPr lang="en-US" altLang="fi-FI" sz="1600" dirty="0"/>
              <a:t>Study </a:t>
            </a:r>
            <a:r>
              <a:rPr lang="en-US" altLang="fi-FI" sz="1600" b="1" dirty="0"/>
              <a:t>application notes</a:t>
            </a:r>
          </a:p>
          <a:p>
            <a:pPr lvl="1">
              <a:defRPr/>
            </a:pPr>
            <a:r>
              <a:rPr lang="en-US" altLang="fi-FI" sz="1600" dirty="0"/>
              <a:t>Use </a:t>
            </a:r>
            <a:r>
              <a:rPr lang="en-US" altLang="fi-FI" sz="1600" dirty="0" err="1"/>
              <a:t>Digikey</a:t>
            </a:r>
            <a:r>
              <a:rPr lang="en-US" altLang="fi-FI" sz="1600" dirty="0"/>
              <a:t>-search to find suitable components (remember requirements)</a:t>
            </a:r>
          </a:p>
          <a:p>
            <a:pPr lvl="1">
              <a:defRPr/>
            </a:pPr>
            <a:r>
              <a:rPr lang="en-US" altLang="fi-FI" sz="1600" dirty="0"/>
              <a:t>Study electrical component </a:t>
            </a:r>
            <a:r>
              <a:rPr lang="en-US" altLang="fi-FI" sz="1600" b="1" dirty="0"/>
              <a:t>datasheets</a:t>
            </a:r>
            <a:r>
              <a:rPr lang="en-US" altLang="fi-FI" sz="1600" dirty="0"/>
              <a:t> (how to communicate, voltages, currents, external components etc.)</a:t>
            </a:r>
          </a:p>
          <a:p>
            <a:pPr lvl="1">
              <a:defRPr/>
            </a:pPr>
            <a:r>
              <a:rPr lang="en-US" altLang="fi-FI" sz="1600" dirty="0"/>
              <a:t>Try to find </a:t>
            </a:r>
            <a:r>
              <a:rPr lang="en-US" altLang="fi-FI" sz="1600" b="1" dirty="0"/>
              <a:t>available libraries </a:t>
            </a:r>
            <a:r>
              <a:rPr lang="en-US" altLang="fi-FI" sz="1600" dirty="0"/>
              <a:t>(communication interfaces, …)</a:t>
            </a:r>
          </a:p>
          <a:p>
            <a:pPr lvl="1">
              <a:defRPr/>
            </a:pPr>
            <a:r>
              <a:rPr lang="en-US" altLang="fi-FI" sz="1600" dirty="0"/>
              <a:t>Favor complete electrical solutions (motor/led drivers, fixed voltage regulators,…)</a:t>
            </a:r>
          </a:p>
          <a:p>
            <a:pPr lvl="1">
              <a:defRPr/>
            </a:pPr>
            <a:r>
              <a:rPr lang="en-US" altLang="fi-FI" sz="1600" dirty="0"/>
              <a:t>Check </a:t>
            </a:r>
            <a:r>
              <a:rPr lang="en-US" altLang="fi-FI" sz="1600" b="1" dirty="0"/>
              <a:t>package availability </a:t>
            </a:r>
            <a:r>
              <a:rPr lang="en-US" altLang="fi-FI" sz="1600" dirty="0"/>
              <a:t>for electrical components (not BGA or too small QFP)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19F18-542E-8A9B-A6C8-0FC4F53896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89AAF-F2BE-A41B-9F9B-E4E6D0B0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FED186-D284-46A1-BBAE-CDEB4F7C0899}" type="datetime1">
              <a:rPr lang="en-US" smtClean="0"/>
              <a:t>1/23/2026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FC330-8F52-5F21-E121-B10AAFA0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/>
              <a:t>Technical specification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fi-FI" sz="1600" b="1" dirty="0"/>
              <a:t>Processor selection</a:t>
            </a:r>
          </a:p>
          <a:p>
            <a:pPr lvl="1"/>
            <a:r>
              <a:rPr lang="en-US" altLang="fi-FI" sz="1600" dirty="0"/>
              <a:t>(in this course) Prefer 32bit STM32xxx</a:t>
            </a:r>
          </a:p>
          <a:p>
            <a:pPr lvl="1"/>
            <a:r>
              <a:rPr lang="en-US" altLang="fi-FI" sz="1600" dirty="0"/>
              <a:t>Check support for </a:t>
            </a:r>
            <a:r>
              <a:rPr lang="en-US" altLang="fi-FI" sz="1600" b="1" dirty="0"/>
              <a:t>debugging tools </a:t>
            </a:r>
            <a:r>
              <a:rPr lang="en-US" altLang="fi-FI" sz="1600" dirty="0"/>
              <a:t>(STLINK/2-1 and SWD serial wire debug (in STM), …)</a:t>
            </a:r>
          </a:p>
          <a:p>
            <a:pPr lvl="1"/>
            <a:r>
              <a:rPr lang="en-US" altLang="fi-FI" sz="1600" dirty="0"/>
              <a:t>Support for your </a:t>
            </a:r>
            <a:r>
              <a:rPr lang="en-US" altLang="fi-FI" sz="1600" b="1" dirty="0"/>
              <a:t>required peripherals </a:t>
            </a:r>
            <a:r>
              <a:rPr lang="en-US" altLang="fi-FI" sz="1600" dirty="0"/>
              <a:t>(SPI, I2C, USB, ADC, ….) in MCU</a:t>
            </a:r>
          </a:p>
          <a:p>
            <a:pPr lvl="2"/>
            <a:r>
              <a:rPr lang="en-US" altLang="fi-FI" sz="1600" dirty="0"/>
              <a:t>1 or 2 </a:t>
            </a:r>
            <a:r>
              <a:rPr lang="en-US" altLang="fi-FI" sz="1600" dirty="0" err="1"/>
              <a:t>uart</a:t>
            </a:r>
            <a:r>
              <a:rPr lang="en-US" altLang="fi-FI" sz="1600" dirty="0"/>
              <a:t>? Special functionalities like CAN? </a:t>
            </a:r>
          </a:p>
          <a:p>
            <a:pPr lvl="1"/>
            <a:r>
              <a:rPr lang="en-US" altLang="fi-FI" sz="1600" dirty="0"/>
              <a:t>Check that supports C/C++</a:t>
            </a:r>
          </a:p>
          <a:p>
            <a:pPr lvl="1"/>
            <a:r>
              <a:rPr lang="en-US" altLang="fi-FI" sz="1600" b="1" dirty="0"/>
              <a:t>Available Libraries </a:t>
            </a:r>
            <a:r>
              <a:rPr lang="en-US" altLang="fi-FI" sz="1600" dirty="0"/>
              <a:t>and software documentations</a:t>
            </a:r>
          </a:p>
          <a:p>
            <a:pPr lvl="1"/>
            <a:r>
              <a:rPr lang="en-US" altLang="fi-FI" sz="1600" dirty="0"/>
              <a:t>Program </a:t>
            </a:r>
            <a:r>
              <a:rPr lang="en-US" altLang="fi-FI" sz="1600" b="1" dirty="0"/>
              <a:t>memory size </a:t>
            </a:r>
          </a:p>
          <a:p>
            <a:pPr lvl="2"/>
            <a:r>
              <a:rPr lang="en-US" altLang="fi-FI" sz="1600" dirty="0"/>
              <a:t>enough space for your code, constant tables (e.g. </a:t>
            </a:r>
            <a:r>
              <a:rPr lang="en-US" altLang="fi-FI" sz="1600" dirty="0" err="1"/>
              <a:t>gui</a:t>
            </a:r>
            <a:r>
              <a:rPr lang="en-US" altLang="fi-FI" sz="1600" dirty="0"/>
              <a:t> bitmaps) and external libraries</a:t>
            </a:r>
          </a:p>
          <a:p>
            <a:r>
              <a:rPr lang="en-US" altLang="fi-FI" sz="1600" dirty="0"/>
              <a:t>Internal vs external data memory</a:t>
            </a:r>
          </a:p>
          <a:p>
            <a:pPr lvl="1"/>
            <a:r>
              <a:rPr lang="en-US" altLang="fi-FI" sz="1600" b="1" dirty="0"/>
              <a:t>sufficient amount of memory </a:t>
            </a:r>
            <a:r>
              <a:rPr lang="en-US" altLang="fi-FI" sz="1600" dirty="0"/>
              <a:t>(follows from requirements), i.e. arrays in memory</a:t>
            </a:r>
          </a:p>
          <a:p>
            <a:pPr lvl="1"/>
            <a:r>
              <a:rPr lang="en-US" altLang="fi-FI" sz="1600" dirty="0"/>
              <a:t>data transfer (serial / parallel bus)</a:t>
            </a:r>
          </a:p>
          <a:p>
            <a:pPr lvl="1"/>
            <a:r>
              <a:rPr lang="en-US" altLang="fi-FI" sz="1600" dirty="0"/>
              <a:t>bus speed and delay</a:t>
            </a:r>
          </a:p>
          <a:p>
            <a:pPr lvl="1"/>
            <a:r>
              <a:rPr lang="en-US" altLang="fi-FI" sz="1600" dirty="0"/>
              <a:t>flash vs ram</a:t>
            </a:r>
          </a:p>
          <a:p>
            <a:endParaRPr lang="fi-FI" altLang="fi-FI" sz="1600" dirty="0"/>
          </a:p>
          <a:p>
            <a:pPr lvl="1"/>
            <a:endParaRPr lang="en-US" altLang="fi-FI" sz="1600" dirty="0"/>
          </a:p>
          <a:p>
            <a:endParaRPr lang="en-US" altLang="fi-FI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E96780-FDB5-5D46-8331-56623901D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70111-1610-7761-EA6F-C8565FBAB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8C0623-2521-4EA6-94BB-484CE0E13278}" type="datetime1">
              <a:rPr lang="en-US" smtClean="0"/>
              <a:t>1/23/2026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4D3F2-23A4-9A44-C357-6E6DB250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/>
              <a:t>Technical specification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fi-FI" sz="1600" b="1" dirty="0"/>
              <a:t>Software components</a:t>
            </a:r>
          </a:p>
          <a:p>
            <a:pPr lvl="1"/>
            <a:r>
              <a:rPr lang="en-US" altLang="fi-FI" sz="1600" dirty="0"/>
              <a:t>Divide such that they are easy to implement and test separately</a:t>
            </a:r>
          </a:p>
          <a:p>
            <a:pPr lvl="1"/>
            <a:r>
              <a:rPr lang="en-US" altLang="fi-FI" sz="1600" dirty="0"/>
              <a:t>Avoid complex I/O solutions if can be implemented with microcontroller I/O units</a:t>
            </a:r>
          </a:p>
          <a:p>
            <a:pPr lvl="2"/>
            <a:r>
              <a:rPr lang="en-US" altLang="fi-FI" sz="1600" dirty="0"/>
              <a:t>e.g. motor control PWM through timers, sensors with SPI/I2C or ADC</a:t>
            </a:r>
          </a:p>
          <a:p>
            <a:pPr lvl="1"/>
            <a:r>
              <a:rPr lang="en-US" altLang="fi-FI" sz="1600" dirty="0"/>
              <a:t>Estimate timings for algorithms against MCU performance</a:t>
            </a:r>
          </a:p>
          <a:p>
            <a:pPr lvl="2"/>
            <a:r>
              <a:rPr lang="en-US" altLang="fi-FI" sz="1600" dirty="0"/>
              <a:t>Check instruction set summary if necessary</a:t>
            </a:r>
          </a:p>
          <a:p>
            <a:r>
              <a:rPr lang="en-US" altLang="fi-FI" sz="1600" b="1" dirty="0"/>
              <a:t>Power</a:t>
            </a:r>
          </a:p>
          <a:p>
            <a:pPr lvl="1"/>
            <a:r>
              <a:rPr lang="en-US" altLang="fi-FI" sz="1600" dirty="0"/>
              <a:t>Approximate power consumption (create table in docs)</a:t>
            </a:r>
          </a:p>
          <a:p>
            <a:pPr lvl="1"/>
            <a:r>
              <a:rPr lang="en-US" altLang="fi-FI" sz="1600" dirty="0"/>
              <a:t>Ensure batteries meet the system life-time (e.g. one week)</a:t>
            </a:r>
          </a:p>
          <a:p>
            <a:pPr lvl="1"/>
            <a:r>
              <a:rPr lang="en-US" altLang="fi-FI" sz="1600" dirty="0"/>
              <a:t>Does your selected components support sleep mode?</a:t>
            </a:r>
          </a:p>
          <a:p>
            <a:pPr lvl="1"/>
            <a:r>
              <a:rPr lang="en-US" altLang="fi-FI" sz="1600" dirty="0"/>
              <a:t>Selected clock speed affect to power consumption</a:t>
            </a:r>
          </a:p>
          <a:p>
            <a:r>
              <a:rPr lang="en-US" altLang="fi-FI" sz="1600" b="1" dirty="0"/>
              <a:t>Casing </a:t>
            </a:r>
            <a:r>
              <a:rPr lang="en-US" altLang="fi-FI" sz="1600" dirty="0"/>
              <a:t>(optional) for device can be made in this course</a:t>
            </a:r>
          </a:p>
          <a:p>
            <a:pPr lvl="1"/>
            <a:r>
              <a:rPr lang="en-US" altLang="fi-FI" sz="1600" dirty="0"/>
              <a:t>Design suitable casing and board size</a:t>
            </a:r>
          </a:p>
          <a:p>
            <a:pPr lvl="1"/>
            <a:r>
              <a:rPr lang="en-US" altLang="fi-FI" sz="1600" dirty="0"/>
              <a:t>Ensure all electrical components fit the board</a:t>
            </a:r>
          </a:p>
          <a:p>
            <a:pPr lvl="1"/>
            <a:r>
              <a:rPr lang="en-US" altLang="fi-FI" sz="1600" dirty="0"/>
              <a:t>If electronics is complex, it might be good to split device to several boards in prototype phase</a:t>
            </a:r>
          </a:p>
          <a:p>
            <a:pPr lvl="1"/>
            <a:r>
              <a:rPr lang="en-US" altLang="fi-FI" sz="1600" dirty="0"/>
              <a:t>Possible to print in FABLAB (STL-format) </a:t>
            </a:r>
          </a:p>
          <a:p>
            <a:pPr lvl="1"/>
            <a:r>
              <a:rPr lang="en-US" altLang="fi-FI" sz="1600" dirty="0"/>
              <a:t>you can use for example </a:t>
            </a:r>
            <a:r>
              <a:rPr lang="en-US" altLang="fi-FI" sz="1600" dirty="0" err="1"/>
              <a:t>FreeCAD</a:t>
            </a:r>
            <a:r>
              <a:rPr lang="en-US" altLang="fi-FI" sz="1600" dirty="0"/>
              <a:t> or Autodesk Fusion 360 to design it</a:t>
            </a:r>
          </a:p>
          <a:p>
            <a:pPr lvl="1"/>
            <a:r>
              <a:rPr lang="en-US" altLang="fi-FI" sz="1600" dirty="0"/>
              <a:t>Or use plastic cases</a:t>
            </a:r>
          </a:p>
          <a:p>
            <a:pPr lvl="2"/>
            <a:endParaRPr lang="en-US" altLang="fi-FI" sz="1600" dirty="0"/>
          </a:p>
          <a:p>
            <a:pPr lvl="1"/>
            <a:endParaRPr lang="en-US" altLang="fi-FI" sz="1600" dirty="0"/>
          </a:p>
          <a:p>
            <a:pPr lvl="1"/>
            <a:endParaRPr lang="en-US" altLang="fi-FI" sz="1600" dirty="0"/>
          </a:p>
          <a:p>
            <a:pPr lvl="1"/>
            <a:endParaRPr lang="fi-FI" altLang="fi-FI" sz="1600" dirty="0"/>
          </a:p>
          <a:p>
            <a:pPr lvl="1"/>
            <a:endParaRPr lang="en-US" altLang="fi-FI" sz="1600" dirty="0"/>
          </a:p>
          <a:p>
            <a:endParaRPr lang="en-US" altLang="fi-FI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48CC96-39DD-14EC-C854-4C6E587629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D16FD-A35B-677B-53E6-08197F89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DDF7F4-9AA9-464A-A4F9-A76086C3557E}" type="datetime1">
              <a:rPr lang="en-US" smtClean="0"/>
              <a:t>1/23/2026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21F4C8-3CA7-0EB2-4519-83B9D355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Requirements to </a:t>
            </a:r>
            <a:r>
              <a:rPr lang="en-US" err="1"/>
              <a:t>TechSpec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111625"/>
            <a:ext cx="7886700" cy="206533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/>
              <a:t>Req1.1:  </a:t>
            </a:r>
          </a:p>
          <a:p>
            <a:pPr>
              <a:buNone/>
            </a:pPr>
            <a:r>
              <a:rPr lang="en-US" sz="1200" dirty="0"/>
              <a:t>    - find display that can show Y line and X characters</a:t>
            </a:r>
          </a:p>
          <a:p>
            <a:pPr>
              <a:buNone/>
            </a:pPr>
            <a:r>
              <a:rPr lang="en-US" sz="1200" dirty="0"/>
              <a:t>    -&gt; display with SPI control   -&gt; we need processor with SPI (or use </a:t>
            </a:r>
            <a:r>
              <a:rPr lang="en-US" sz="1200" dirty="0" err="1"/>
              <a:t>bitbang</a:t>
            </a:r>
            <a:r>
              <a:rPr lang="en-US" sz="1200" dirty="0"/>
              <a:t>)</a:t>
            </a:r>
          </a:p>
          <a:p>
            <a:pPr>
              <a:buNone/>
            </a:pPr>
            <a:r>
              <a:rPr lang="en-US" sz="1200" dirty="0"/>
              <a:t>    - Where display is used? Outdoor/indoor?  Do we need backlight? Is there code libraries available for it? What is the quality of documentation (for example only in </a:t>
            </a:r>
            <a:r>
              <a:rPr lang="en-US" sz="1200" dirty="0" err="1"/>
              <a:t>chinese</a:t>
            </a:r>
            <a:r>
              <a:rPr lang="en-US" sz="1200" dirty="0"/>
              <a:t>)</a:t>
            </a:r>
          </a:p>
          <a:p>
            <a:pPr>
              <a:buNone/>
            </a:pPr>
            <a:r>
              <a:rPr lang="en-US" sz="1200" dirty="0"/>
              <a:t>Req1.1.2:  </a:t>
            </a:r>
          </a:p>
          <a:p>
            <a:pPr>
              <a:buNone/>
            </a:pPr>
            <a:r>
              <a:rPr lang="en-US" sz="1200" dirty="0"/>
              <a:t>   - Case or design of device defines that display is 20mm x 40mm. </a:t>
            </a:r>
          </a:p>
          <a:p>
            <a:pPr>
              <a:buNone/>
            </a:pPr>
            <a:r>
              <a:rPr lang="en-US" sz="1200" dirty="0"/>
              <a:t>   -&gt; limit the search to these devices  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1547664" y="1556792"/>
          <a:ext cx="6188075" cy="2231513"/>
        </p:xfrm>
        <a:graphic>
          <a:graphicData uri="http://schemas.openxmlformats.org/drawingml/2006/table">
            <a:tbl>
              <a:tblPr/>
              <a:tblGrid>
                <a:gridCol w="2026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6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Times New Roman"/>
                        </a:rPr>
                        <a:t>REQ NO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Times New Roman"/>
                        </a:rPr>
                        <a:t>Description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Times New Roman"/>
                        </a:rPr>
                        <a:t>Parameters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>
                      <a:noFill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1     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User interface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1.1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display shows current value of sensors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update 0.1s,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6 channels,</a:t>
                      </a:r>
                      <a:b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</a:b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digits:2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1.1.2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display size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20mm x 40mm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6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1.2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User can change configuration of device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1.2.1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user can change update speed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min 0.01s, max 5s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i-FI" sz="1200">
                          <a:latin typeface="Calibri"/>
                          <a:ea typeface="Calibri"/>
                          <a:cs typeface="Times New Roman"/>
                        </a:rPr>
                        <a:t>1.3</a:t>
                      </a: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User can start/stop measurement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Device measures Temperatures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6 channels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2.1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Device stores </a:t>
                      </a:r>
                      <a:r>
                        <a:rPr lang="en-US" sz="1200" i="1">
                          <a:latin typeface="Calibri"/>
                          <a:ea typeface="Calibri"/>
                          <a:cs typeface="Times New Roman"/>
                        </a:rPr>
                        <a:t>measurements to memory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Calibri"/>
                          <a:cs typeface="Times New Roman"/>
                        </a:rPr>
                        <a:t>update 1s</a:t>
                      </a:r>
                      <a:endParaRPr lang="fi-FI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3" marR="68573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ACDEF3B-A522-3245-E087-2B23E86E43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9E68C6A-3099-2C35-A8CB-FB9B628C7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AFD7C3-2F81-4802-9BDB-EE3224617177}" type="datetime1">
              <a:rPr lang="en-US" smtClean="0"/>
              <a:t>1/23/2026</a:t>
            </a:fld>
            <a:endParaRPr lang="fi-FI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F8A024-9C5E-7EFC-8260-EEDA6DB80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4944-5FE9-4584-A825-49D43341B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Software </a:t>
            </a:r>
            <a:r>
              <a:rPr lang="fi-FI" err="1"/>
              <a:t>tech</a:t>
            </a:r>
            <a:r>
              <a:rPr lang="fi-FI"/>
              <a:t> </a:t>
            </a:r>
            <a:r>
              <a:rPr lang="fi-FI" err="1"/>
              <a:t>plan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935ED-0865-4BF9-A6DA-782F609C7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Study </a:t>
            </a:r>
            <a:r>
              <a:rPr lang="en-US" b="1" dirty="0"/>
              <a:t>tools available</a:t>
            </a:r>
          </a:p>
          <a:p>
            <a:r>
              <a:rPr lang="en-US" dirty="0"/>
              <a:t>Find drivers or </a:t>
            </a:r>
            <a:r>
              <a:rPr lang="en-US" b="1" dirty="0"/>
              <a:t>datasheets</a:t>
            </a:r>
            <a:r>
              <a:rPr lang="en-US" dirty="0"/>
              <a:t> describing protocols, registers, etc.</a:t>
            </a:r>
          </a:p>
          <a:p>
            <a:r>
              <a:rPr lang="en-US" dirty="0"/>
              <a:t>Study how drivers work if source is available</a:t>
            </a:r>
          </a:p>
          <a:p>
            <a:r>
              <a:rPr lang="en-US" dirty="0"/>
              <a:t>Study how you are going to </a:t>
            </a:r>
            <a:r>
              <a:rPr lang="en-US" b="1" dirty="0"/>
              <a:t>implement UI</a:t>
            </a:r>
          </a:p>
          <a:p>
            <a:r>
              <a:rPr lang="en-US" dirty="0"/>
              <a:t>Find </a:t>
            </a:r>
            <a:r>
              <a:rPr lang="en-US" b="1" dirty="0"/>
              <a:t>examples</a:t>
            </a:r>
            <a:r>
              <a:rPr lang="en-US" dirty="0"/>
              <a:t> how to use drivers</a:t>
            </a:r>
          </a:p>
          <a:p>
            <a:r>
              <a:rPr lang="en-US" b="1" dirty="0"/>
              <a:t>Hierarchy </a:t>
            </a:r>
            <a:r>
              <a:rPr lang="en-US" dirty="0"/>
              <a:t>of SW parts</a:t>
            </a:r>
          </a:p>
          <a:p>
            <a:r>
              <a:rPr lang="en-US" dirty="0"/>
              <a:t>Decide if using </a:t>
            </a:r>
            <a:r>
              <a:rPr lang="en-US" b="1" dirty="0"/>
              <a:t>threads, interrupts, polls </a:t>
            </a:r>
            <a:r>
              <a:rPr lang="en-US" dirty="0"/>
              <a:t>etc. for each functionality</a:t>
            </a:r>
          </a:p>
          <a:p>
            <a:r>
              <a:rPr lang="en-US" dirty="0"/>
              <a:t>Decide </a:t>
            </a:r>
            <a:r>
              <a:rPr lang="en-US" b="1" dirty="0"/>
              <a:t>timing</a:t>
            </a:r>
            <a:r>
              <a:rPr lang="en-US" dirty="0"/>
              <a:t> of each part of the software</a:t>
            </a:r>
          </a:p>
          <a:p>
            <a:r>
              <a:rPr lang="en-US" dirty="0"/>
              <a:t>Draw preliminary plan of software parts on your tech spec!</a:t>
            </a:r>
          </a:p>
          <a:p>
            <a:endParaRPr lang="en-US" dirty="0"/>
          </a:p>
          <a:p>
            <a:pPr marL="0" indent="0">
              <a:buNone/>
            </a:pPr>
            <a:r>
              <a:rPr lang="fi-FI" dirty="0"/>
              <a:t>In final report, show </a:t>
            </a:r>
            <a:r>
              <a:rPr lang="fi-FI" b="1" dirty="0"/>
              <a:t>gantt diagram </a:t>
            </a:r>
            <a:r>
              <a:rPr lang="fi-FI" dirty="0"/>
              <a:t>how many ms each part of SW is using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267982-FF32-0ACD-AF48-55DBD0703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34A3B-A621-A431-7976-2C83CA15E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1A15CE-6D30-4361-A6E6-C18AC6E125A8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08D28-D034-3F53-A186-858F94DD1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  <p:extLst>
      <p:ext uri="{BB962C8B-B14F-4D97-AF65-F5344CB8AC3E}">
        <p14:creationId xmlns:p14="http://schemas.microsoft.com/office/powerpoint/2010/main" val="928301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/>
              <a:t>Test plan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fi-FI" sz="1600" dirty="0"/>
              <a:t>Testing is always done in </a:t>
            </a:r>
            <a:r>
              <a:rPr lang="en-US" altLang="fi-FI" sz="1600" b="1" dirty="0"/>
              <a:t>parallel with implementation </a:t>
            </a:r>
            <a:r>
              <a:rPr lang="en-US" altLang="fi-FI" sz="1600" dirty="0"/>
              <a:t>during whole process</a:t>
            </a:r>
          </a:p>
          <a:p>
            <a:pPr lvl="1"/>
            <a:r>
              <a:rPr lang="en-US" altLang="fi-FI" sz="1600" dirty="0"/>
              <a:t>As each sub-functionality is ready, will be tested and marked on test report.</a:t>
            </a:r>
          </a:p>
          <a:p>
            <a:r>
              <a:rPr lang="en-US" altLang="fi-FI" sz="1600" b="1" dirty="0"/>
              <a:t>How to verify that each requirement is filled</a:t>
            </a:r>
          </a:p>
          <a:p>
            <a:pPr lvl="1"/>
            <a:r>
              <a:rPr lang="en-US" altLang="fi-FI" sz="1600" dirty="0"/>
              <a:t>Calibration? Reference measurement?</a:t>
            </a:r>
          </a:p>
          <a:p>
            <a:pPr lvl="1"/>
            <a:r>
              <a:rPr lang="en-US" altLang="fi-FI" sz="1600" dirty="0"/>
              <a:t>Example: temperature measurement with reference device, whole range of measurement area. Long term drifting?</a:t>
            </a:r>
          </a:p>
          <a:p>
            <a:r>
              <a:rPr lang="en-US" altLang="fi-FI" sz="1600" b="1" dirty="0"/>
              <a:t>How to test that technical solutions works as expected</a:t>
            </a:r>
          </a:p>
          <a:p>
            <a:r>
              <a:rPr lang="en-US" altLang="fi-FI" sz="1600" dirty="0"/>
              <a:t>If minimum and maximum requirement exist, </a:t>
            </a:r>
            <a:r>
              <a:rPr lang="en-US" altLang="fi-FI" sz="1600" b="1" dirty="0"/>
              <a:t>how to measure </a:t>
            </a:r>
            <a:r>
              <a:rPr lang="en-US" altLang="fi-FI" sz="1600" dirty="0"/>
              <a:t>in these conditions?</a:t>
            </a:r>
          </a:p>
          <a:p>
            <a:endParaRPr lang="en-US" altLang="fi-FI" sz="1600" dirty="0"/>
          </a:p>
          <a:p>
            <a:r>
              <a:rPr lang="en-US" altLang="fi-FI" sz="1600" dirty="0"/>
              <a:t>Use </a:t>
            </a:r>
            <a:r>
              <a:rPr lang="en-US" altLang="fi-FI" sz="1600" b="1" dirty="0"/>
              <a:t>same reference numbering </a:t>
            </a:r>
            <a:r>
              <a:rPr lang="en-US" altLang="fi-FI" sz="1600" dirty="0"/>
              <a:t>as in previous documents </a:t>
            </a:r>
          </a:p>
          <a:p>
            <a:r>
              <a:rPr lang="en-US" altLang="fi-FI" sz="1600" dirty="0"/>
              <a:t>Sometimes if something larger changes during development, </a:t>
            </a:r>
            <a:br>
              <a:rPr lang="en-US" altLang="fi-FI" sz="1600" dirty="0"/>
            </a:br>
            <a:r>
              <a:rPr lang="en-US" altLang="fi-FI" sz="1600" dirty="0"/>
              <a:t>-&gt; some test needs to be done again</a:t>
            </a:r>
          </a:p>
          <a:p>
            <a:r>
              <a:rPr lang="en-US" altLang="fi-FI" sz="1600" dirty="0"/>
              <a:t>In real world, testing team is usually separate so you have to </a:t>
            </a:r>
            <a:r>
              <a:rPr lang="en-US" altLang="fi-FI" sz="1600" b="1" dirty="0"/>
              <a:t>define what is tested and how</a:t>
            </a:r>
          </a:p>
          <a:p>
            <a:r>
              <a:rPr lang="en-US" altLang="fi-FI" sz="1600" dirty="0"/>
              <a:t>Some tests might need some </a:t>
            </a:r>
            <a:r>
              <a:rPr lang="en-US" altLang="fi-FI" sz="1600" b="1" dirty="0"/>
              <a:t>statistical analysis</a:t>
            </a:r>
            <a:r>
              <a:rPr lang="en-US" altLang="fi-FI" sz="1600" dirty="0"/>
              <a:t>, you must define how tests are represented in test plan.</a:t>
            </a:r>
          </a:p>
          <a:p>
            <a:pPr lvl="1"/>
            <a:r>
              <a:rPr lang="en-US" altLang="fi-FI" sz="1600" dirty="0"/>
              <a:t>For example: power consumption and time-plot</a:t>
            </a:r>
            <a:endParaRPr lang="fi-FI" altLang="fi-FI" sz="1600" dirty="0"/>
          </a:p>
          <a:p>
            <a:endParaRPr lang="en-US" altLang="fi-FI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D32E40-D308-2396-51EF-308F794800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71B2E-64FF-E951-13F6-77B312075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90CDF3-7BF0-424B-A255-FCA3BF9514FB}" type="datetime1">
              <a:rPr lang="en-US" smtClean="0"/>
              <a:t>1/23/2026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09AC0-9585-96CF-018D-E518FDE5A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/>
              <a:t>Schedule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fi-FI" sz="1600" b="1" dirty="0"/>
              <a:t>Reserve weekly hours </a:t>
            </a:r>
            <a:r>
              <a:rPr lang="en-US" altLang="fi-FI" sz="1600" dirty="0"/>
              <a:t>that you are able/will spend on this project</a:t>
            </a:r>
          </a:p>
          <a:p>
            <a:r>
              <a:rPr lang="en-US" altLang="fi-FI" sz="1600" b="1" dirty="0"/>
              <a:t>Deadlines</a:t>
            </a:r>
            <a:r>
              <a:rPr lang="en-US" altLang="fi-FI" sz="1600" dirty="0"/>
              <a:t> for each phase to complete project in time</a:t>
            </a:r>
          </a:p>
          <a:p>
            <a:pPr lvl="1"/>
            <a:r>
              <a:rPr lang="en-US" altLang="fi-FI" sz="1600" dirty="0"/>
              <a:t>Define what needs to be done before DL</a:t>
            </a:r>
          </a:p>
          <a:p>
            <a:r>
              <a:rPr lang="en-US" altLang="fi-FI" sz="1600" b="1" dirty="0"/>
              <a:t>Continuously update LOG </a:t>
            </a:r>
            <a:r>
              <a:rPr lang="en-US" altLang="fi-FI" sz="1600" dirty="0"/>
              <a:t>of used hours to learn how much time each job is taking in practice in design process</a:t>
            </a:r>
          </a:p>
          <a:p>
            <a:pPr lvl="1"/>
            <a:r>
              <a:rPr lang="en-US" altLang="fi-FI" sz="1600" dirty="0"/>
              <a:t>Give enough details to understand better where time is spend:</a:t>
            </a:r>
          </a:p>
          <a:p>
            <a:pPr lvl="2"/>
            <a:r>
              <a:rPr lang="en-US" altLang="fi-FI" sz="1600" dirty="0"/>
              <a:t>Just single term like “documentation” is bad, write down more details </a:t>
            </a:r>
          </a:p>
          <a:p>
            <a:r>
              <a:rPr lang="en-US" altLang="fi-FI" sz="1600" b="1" dirty="0"/>
              <a:t>Keep your time schedule</a:t>
            </a:r>
          </a:p>
          <a:p>
            <a:pPr lvl="1"/>
            <a:r>
              <a:rPr lang="en-US" altLang="fi-FI" sz="1600" dirty="0"/>
              <a:t>If schedule is missed, do rescheduling</a:t>
            </a:r>
          </a:p>
          <a:p>
            <a:r>
              <a:rPr lang="en-US" altLang="fi-FI" sz="1600" b="1" dirty="0"/>
              <a:t>Report progress in week-reports</a:t>
            </a:r>
          </a:p>
          <a:p>
            <a:pPr lvl="1"/>
            <a:r>
              <a:rPr lang="en-US" altLang="fi-FI" sz="1600" dirty="0"/>
              <a:t>Short list of what has been done, and what are action points for upcoming week</a:t>
            </a:r>
          </a:p>
          <a:p>
            <a:pPr lvl="1"/>
            <a:r>
              <a:rPr lang="en-US" altLang="fi-FI" sz="1600" dirty="0"/>
              <a:t>Even if nothing is done during the week, report it still to keep work in progress</a:t>
            </a:r>
          </a:p>
          <a:p>
            <a:r>
              <a:rPr lang="en-US" altLang="fi-FI" dirty="0"/>
              <a:t>Share work equally to team members!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3E0D54-CE0B-93F4-05DF-AA933BFA0A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E0CD0-93DC-E3A8-07F4-62C7A94E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8EA86B-46C2-4015-A157-3587940757E4}" type="datetime1">
              <a:rPr lang="en-US" smtClean="0"/>
              <a:t>1/23/2026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65CBE-49EE-F3BE-3D96-84B139035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Lecture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B96A56F7-200A-401A-9453-CCB94695F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/>
              <a:t>Deadlines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D33DD963-F2FC-40E9-854E-21D1074385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fi-FI" sz="1800"/>
              <a:t>22.01 Topic and Group (Moodle)</a:t>
            </a:r>
          </a:p>
          <a:p>
            <a:pPr>
              <a:buFontTx/>
              <a:buNone/>
            </a:pPr>
            <a:endParaRPr lang="en-US" altLang="fi-FI" sz="1800"/>
          </a:p>
          <a:p>
            <a:pPr>
              <a:buFontTx/>
              <a:buNone/>
            </a:pPr>
            <a:r>
              <a:rPr lang="en-US" altLang="fi-FI" sz="1800"/>
              <a:t>12.02 Phase 1 completed - Technical specifications and Test plan, Schedule</a:t>
            </a:r>
          </a:p>
          <a:p>
            <a:pPr>
              <a:buFontTx/>
              <a:buNone/>
            </a:pPr>
            <a:endParaRPr lang="en-US" altLang="fi-FI" sz="1800"/>
          </a:p>
          <a:p>
            <a:pPr>
              <a:buFontTx/>
              <a:buNone/>
            </a:pPr>
            <a:r>
              <a:rPr lang="en-US" altLang="fi-FI" sz="1800"/>
              <a:t>12.03 Phase 2 completed - Schematics and component orders</a:t>
            </a:r>
          </a:p>
          <a:p>
            <a:pPr>
              <a:buFontTx/>
              <a:buNone/>
            </a:pPr>
            <a:endParaRPr lang="en-US" altLang="fi-FI" sz="1800"/>
          </a:p>
          <a:p>
            <a:pPr>
              <a:buFontTx/>
              <a:buNone/>
            </a:pPr>
            <a:r>
              <a:rPr lang="en-US" altLang="fi-FI" sz="1800"/>
              <a:t>27.03 Phase 3 completed – Layout and manufacturing files, PCB ordering</a:t>
            </a:r>
          </a:p>
          <a:p>
            <a:pPr>
              <a:buFontTx/>
              <a:buNone/>
            </a:pPr>
            <a:endParaRPr lang="en-US" altLang="fi-FI" sz="1800"/>
          </a:p>
          <a:p>
            <a:pPr>
              <a:buFontTx/>
              <a:buNone/>
            </a:pPr>
            <a:r>
              <a:rPr lang="en-US" altLang="fi-FI" sz="1800"/>
              <a:t>10.04 Phase 4 completed – Populating the board and electrical testing</a:t>
            </a:r>
          </a:p>
          <a:p>
            <a:pPr>
              <a:buFontTx/>
              <a:buNone/>
            </a:pPr>
            <a:endParaRPr lang="en-US" altLang="fi-FI" sz="1800"/>
          </a:p>
          <a:p>
            <a:pPr>
              <a:buFontTx/>
              <a:buNone/>
            </a:pPr>
            <a:r>
              <a:rPr lang="en-US" altLang="fi-FI" sz="1800"/>
              <a:t>08.05 Phase 5 completed - Software</a:t>
            </a:r>
          </a:p>
          <a:p>
            <a:pPr>
              <a:buFontTx/>
              <a:buNone/>
            </a:pPr>
            <a:endParaRPr lang="en-US" altLang="fi-FI" sz="1800"/>
          </a:p>
          <a:p>
            <a:pPr>
              <a:buFontTx/>
              <a:buNone/>
            </a:pPr>
            <a:r>
              <a:rPr lang="en-US" altLang="fi-FI" sz="1800"/>
              <a:t>31.5. Phase 6 completed – All functionalities operating, Documentation ready</a:t>
            </a:r>
          </a:p>
          <a:p>
            <a:pPr>
              <a:buFontTx/>
              <a:buNone/>
            </a:pPr>
            <a:endParaRPr lang="en-US" altLang="fi-FI"/>
          </a:p>
          <a:p>
            <a:pPr>
              <a:buFontTx/>
              <a:buNone/>
            </a:pPr>
            <a:endParaRPr lang="en-US" altLang="fi-FI"/>
          </a:p>
          <a:p>
            <a:endParaRPr lang="en-US" altLang="fi-FI"/>
          </a:p>
          <a:p>
            <a:pPr>
              <a:buFontTx/>
              <a:buNone/>
            </a:pPr>
            <a:endParaRPr lang="en-US" altLang="fi-FI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A2769-8104-EEA6-D6E4-87E69BE19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D7ECB1-8A06-424D-9DB2-ABE05A454E2D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1/23/2026</a:t>
            </a:fld>
            <a:endParaRPr kumimoji="0" lang="fi-FI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262F4A-F907-5F00-960D-C19A28FB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Lecture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F3B665-129F-C2FA-96EA-52B8181B7C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fi-FI"/>
            </a:br>
            <a:r>
              <a:rPr lang="en-US" altLang="fi-FI"/>
              <a:t>Discussion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E11AD4-05B1-6532-48F5-570ABAAB37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5E5E8-628C-A562-8589-DC6CEACCE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7BC4C-2781-CCC9-6AA3-5AE915CA4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6E5FB-E939-7C8A-5BEE-3E19681CB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F28EB0-260E-9AE7-FDCE-5B58B3260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388" y="2471182"/>
            <a:ext cx="3923257" cy="23549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B2AB0D-B217-0FB2-0968-3D9A4283E3B4}"/>
              </a:ext>
            </a:extLst>
          </p:cNvPr>
          <p:cNvSpPr txBox="1"/>
          <p:nvPr/>
        </p:nvSpPr>
        <p:spPr>
          <a:xfrm>
            <a:off x="5613721" y="2844224"/>
            <a:ext cx="14959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 err="1"/>
              <a:t>Acquisition</a:t>
            </a:r>
            <a:r>
              <a:rPr lang="fi-FI" sz="1400" dirty="0"/>
              <a:t> of </a:t>
            </a:r>
            <a:r>
              <a:rPr lang="fi-FI" sz="1400" dirty="0" err="1"/>
              <a:t>deeper</a:t>
            </a:r>
            <a:r>
              <a:rPr lang="fi-FI" sz="1400" dirty="0"/>
              <a:t> </a:t>
            </a:r>
            <a:r>
              <a:rPr lang="fi-FI" sz="1400" dirty="0" err="1"/>
              <a:t>technical</a:t>
            </a:r>
            <a:endParaRPr lang="fi-FI" sz="1400" dirty="0"/>
          </a:p>
          <a:p>
            <a:pPr algn="ctr"/>
            <a:r>
              <a:rPr lang="fi-FI" sz="1400" dirty="0" err="1"/>
              <a:t>understanding</a:t>
            </a:r>
            <a:r>
              <a:rPr lang="fi-FI" sz="1400" dirty="0"/>
              <a:t> of </a:t>
            </a:r>
            <a:r>
              <a:rPr lang="fi-FI" sz="1400" dirty="0" err="1"/>
              <a:t>the</a:t>
            </a:r>
            <a:r>
              <a:rPr lang="fi-FI" sz="1400" dirty="0"/>
              <a:t> </a:t>
            </a:r>
            <a:r>
              <a:rPr lang="fi-FI" sz="1400" dirty="0" err="1"/>
              <a:t>problem</a:t>
            </a:r>
            <a:r>
              <a:rPr lang="fi-FI" sz="1400" dirty="0"/>
              <a:t> and</a:t>
            </a:r>
          </a:p>
          <a:p>
            <a:pPr algn="ctr"/>
            <a:r>
              <a:rPr lang="fi-FI" sz="1400" dirty="0" err="1"/>
              <a:t>solution</a:t>
            </a:r>
            <a:endParaRPr lang="fi-FI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7B43F6-E647-16A4-5E25-1927197DECE3}"/>
              </a:ext>
            </a:extLst>
          </p:cNvPr>
          <p:cNvSpPr txBox="1"/>
          <p:nvPr/>
        </p:nvSpPr>
        <p:spPr>
          <a:xfrm>
            <a:off x="3697617" y="1557592"/>
            <a:ext cx="16515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 err="1"/>
              <a:t>Seach</a:t>
            </a:r>
            <a:r>
              <a:rPr lang="fi-FI" sz="1400" dirty="0"/>
              <a:t> for </a:t>
            </a:r>
            <a:r>
              <a:rPr lang="fi-FI" sz="1400" dirty="0" err="1"/>
              <a:t>available</a:t>
            </a:r>
            <a:endParaRPr lang="fi-FI" sz="1400" dirty="0"/>
          </a:p>
          <a:p>
            <a:pPr algn="ctr"/>
            <a:r>
              <a:rPr lang="fi-FI" sz="1400" dirty="0" err="1"/>
              <a:t>viable</a:t>
            </a:r>
            <a:r>
              <a:rPr lang="fi-FI" sz="1400" dirty="0"/>
              <a:t> </a:t>
            </a:r>
            <a:r>
              <a:rPr lang="fi-FI" sz="1400" dirty="0" err="1"/>
              <a:t>component</a:t>
            </a:r>
            <a:endParaRPr lang="fi-FI" sz="1400" dirty="0"/>
          </a:p>
          <a:p>
            <a:pPr algn="ctr"/>
            <a:r>
              <a:rPr lang="fi-FI" sz="1400" dirty="0" err="1"/>
              <a:t>options</a:t>
            </a:r>
            <a:endParaRPr lang="fi-FI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71CFD0-6A84-5FC4-2EB9-5A34DE814691}"/>
              </a:ext>
            </a:extLst>
          </p:cNvPr>
          <p:cNvSpPr txBox="1"/>
          <p:nvPr/>
        </p:nvSpPr>
        <p:spPr>
          <a:xfrm>
            <a:off x="2357504" y="2964251"/>
            <a:ext cx="13031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 err="1"/>
              <a:t>Refining</a:t>
            </a:r>
            <a:r>
              <a:rPr lang="fi-FI" sz="1400" dirty="0"/>
              <a:t> </a:t>
            </a:r>
            <a:r>
              <a:rPr lang="fi-FI" sz="1400" dirty="0" err="1"/>
              <a:t>the</a:t>
            </a:r>
            <a:r>
              <a:rPr lang="fi-FI" sz="1400" dirty="0"/>
              <a:t> </a:t>
            </a:r>
            <a:r>
              <a:rPr lang="fi-FI" sz="1400" dirty="0" err="1"/>
              <a:t>specs</a:t>
            </a:r>
            <a:r>
              <a:rPr lang="fi-FI" sz="1400" dirty="0"/>
              <a:t>,</a:t>
            </a:r>
          </a:p>
          <a:p>
            <a:pPr algn="ctr"/>
            <a:r>
              <a:rPr lang="fi-FI" sz="1400" dirty="0" err="1"/>
              <a:t>fixing</a:t>
            </a:r>
            <a:r>
              <a:rPr lang="fi-FI" sz="1400" dirty="0"/>
              <a:t> </a:t>
            </a:r>
            <a:r>
              <a:rPr lang="fi-FI" sz="1400" dirty="0" err="1"/>
              <a:t>the</a:t>
            </a:r>
            <a:r>
              <a:rPr lang="fi-FI" sz="1400" dirty="0"/>
              <a:t> </a:t>
            </a:r>
            <a:r>
              <a:rPr lang="fi-FI" sz="1400" dirty="0" err="1"/>
              <a:t>specs</a:t>
            </a:r>
            <a:endParaRPr lang="fi-FI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E6C83F-DB9D-AE83-12E8-FB8C244E595D}"/>
              </a:ext>
            </a:extLst>
          </p:cNvPr>
          <p:cNvSpPr txBox="1"/>
          <p:nvPr/>
        </p:nvSpPr>
        <p:spPr>
          <a:xfrm>
            <a:off x="725230" y="4195985"/>
            <a:ext cx="1585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i-FI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Requirement</a:t>
            </a:r>
          </a:p>
          <a:p>
            <a:pPr algn="ctr"/>
            <a:r>
              <a:rPr lang="fi-FI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specifications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1BAC3-D770-0B90-6112-65908ECD0352}"/>
              </a:ext>
            </a:extLst>
          </p:cNvPr>
          <p:cNvSpPr txBox="1"/>
          <p:nvPr/>
        </p:nvSpPr>
        <p:spPr>
          <a:xfrm>
            <a:off x="6399680" y="3810637"/>
            <a:ext cx="27288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err="1">
                <a:solidFill>
                  <a:srgbClr val="00B050"/>
                </a:solidFill>
              </a:rPr>
              <a:t>Sufficient</a:t>
            </a:r>
            <a:endParaRPr lang="fi-FI" dirty="0">
              <a:solidFill>
                <a:srgbClr val="00B050"/>
              </a:solidFill>
            </a:endParaRPr>
          </a:p>
          <a:p>
            <a:pPr algn="ctr"/>
            <a:r>
              <a:rPr lang="fi-FI" dirty="0" err="1">
                <a:solidFill>
                  <a:srgbClr val="00B050"/>
                </a:solidFill>
              </a:rPr>
              <a:t>understanding</a:t>
            </a:r>
            <a:r>
              <a:rPr lang="fi-FI" dirty="0">
                <a:solidFill>
                  <a:srgbClr val="00B050"/>
                </a:solidFill>
              </a:rPr>
              <a:t>, </a:t>
            </a:r>
          </a:p>
          <a:p>
            <a:pPr algn="ctr"/>
            <a:r>
              <a:rPr lang="fi-FI" dirty="0" err="1">
                <a:solidFill>
                  <a:srgbClr val="00B050"/>
                </a:solidFill>
              </a:rPr>
              <a:t>technical</a:t>
            </a:r>
            <a:endParaRPr lang="fi-FI" dirty="0">
              <a:solidFill>
                <a:srgbClr val="00B050"/>
              </a:solidFill>
            </a:endParaRPr>
          </a:p>
          <a:p>
            <a:pPr algn="ctr"/>
            <a:r>
              <a:rPr lang="fi-FI" dirty="0" err="1">
                <a:solidFill>
                  <a:srgbClr val="00B050"/>
                </a:solidFill>
              </a:rPr>
              <a:t>specifications</a:t>
            </a:r>
            <a:r>
              <a:rPr lang="fi-FI" dirty="0">
                <a:solidFill>
                  <a:srgbClr val="00B050"/>
                </a:solidFill>
              </a:rPr>
              <a:t>,</a:t>
            </a:r>
          </a:p>
          <a:p>
            <a:pPr algn="ctr"/>
            <a:r>
              <a:rPr lang="fi-FI" dirty="0" err="1">
                <a:solidFill>
                  <a:srgbClr val="00B050"/>
                </a:solidFill>
              </a:rPr>
              <a:t>final</a:t>
            </a:r>
            <a:r>
              <a:rPr lang="fi-FI" dirty="0">
                <a:solidFill>
                  <a:srgbClr val="00B050"/>
                </a:solidFill>
              </a:rPr>
              <a:t> </a:t>
            </a:r>
            <a:r>
              <a:rPr lang="fi-FI" dirty="0" err="1">
                <a:solidFill>
                  <a:srgbClr val="00B050"/>
                </a:solidFill>
              </a:rPr>
              <a:t>component</a:t>
            </a:r>
            <a:endParaRPr lang="fi-FI" dirty="0">
              <a:solidFill>
                <a:srgbClr val="00B050"/>
              </a:solidFill>
            </a:endParaRPr>
          </a:p>
          <a:p>
            <a:pPr algn="ctr"/>
            <a:r>
              <a:rPr lang="fi-FI" dirty="0" err="1">
                <a:solidFill>
                  <a:srgbClr val="00B050"/>
                </a:solidFill>
              </a:rPr>
              <a:t>selection</a:t>
            </a:r>
            <a:r>
              <a:rPr lang="fi-FI" dirty="0">
                <a:solidFill>
                  <a:srgbClr val="00B050"/>
                </a:solidFill>
              </a:rPr>
              <a:t>,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3BB11C-63D9-DEF4-F8C8-2831F938DA0B}"/>
              </a:ext>
            </a:extLst>
          </p:cNvPr>
          <p:cNvSpPr txBox="1"/>
          <p:nvPr/>
        </p:nvSpPr>
        <p:spPr>
          <a:xfrm>
            <a:off x="3760042" y="3233155"/>
            <a:ext cx="1651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err="1">
                <a:solidFill>
                  <a:schemeClr val="accent2">
                    <a:lumMod val="75000"/>
                  </a:schemeClr>
                </a:solidFill>
              </a:rPr>
              <a:t>Iteration</a:t>
            </a:r>
            <a:endParaRPr lang="fi-FI" sz="2400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fi-FI" sz="2400" dirty="0" err="1">
                <a:solidFill>
                  <a:schemeClr val="accent2">
                    <a:lumMod val="75000"/>
                  </a:schemeClr>
                </a:solidFill>
              </a:rPr>
              <a:t>loops</a:t>
            </a:r>
            <a:endParaRPr lang="fi-FI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43CA4E-CA12-7FD2-FA83-E97D897B7959}"/>
              </a:ext>
            </a:extLst>
          </p:cNvPr>
          <p:cNvSpPr txBox="1"/>
          <p:nvPr/>
        </p:nvSpPr>
        <p:spPr>
          <a:xfrm>
            <a:off x="2306348" y="289225"/>
            <a:ext cx="45313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2800" u="sng" dirty="0" err="1"/>
              <a:t>Steps</a:t>
            </a:r>
            <a:r>
              <a:rPr lang="fi-FI" sz="2800" u="sng" dirty="0"/>
              <a:t> </a:t>
            </a:r>
            <a:r>
              <a:rPr lang="fi-FI" sz="2800" u="sng" dirty="0" err="1"/>
              <a:t>from</a:t>
            </a:r>
            <a:r>
              <a:rPr lang="fi-FI" sz="2800" u="sng" dirty="0"/>
              <a:t> </a:t>
            </a:r>
            <a:r>
              <a:rPr lang="fi-FI" sz="2800" u="sng" dirty="0" err="1"/>
              <a:t>phase</a:t>
            </a:r>
            <a:r>
              <a:rPr lang="fi-FI" sz="2800" u="sng" dirty="0"/>
              <a:t> 1. </a:t>
            </a:r>
            <a:r>
              <a:rPr lang="fi-FI" sz="2800" u="sng" dirty="0" err="1"/>
              <a:t>forward</a:t>
            </a:r>
            <a:endParaRPr lang="fi-FI" sz="28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8B70BA-FA11-2AE4-8DF6-8D1CA5FDA6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7035DDD-20AD-1BDD-5DFF-D8326093C3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4321985-2BA4-42EB-6DF3-C01503EA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054353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2078F-DE72-F917-10CF-63093B4AE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6D19FBA-466F-A84A-7CB2-AF8FC75824B6}"/>
              </a:ext>
            </a:extLst>
          </p:cNvPr>
          <p:cNvSpPr txBox="1"/>
          <p:nvPr/>
        </p:nvSpPr>
        <p:spPr>
          <a:xfrm>
            <a:off x="2350366" y="289225"/>
            <a:ext cx="4443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2800" u="sng" dirty="0" err="1"/>
              <a:t>Requirement</a:t>
            </a:r>
            <a:r>
              <a:rPr lang="fi-FI" sz="2800" u="sng" dirty="0"/>
              <a:t> </a:t>
            </a:r>
            <a:r>
              <a:rPr lang="fi-FI" sz="2800" u="sng" dirty="0" err="1"/>
              <a:t>specifications</a:t>
            </a:r>
            <a:endParaRPr lang="fi-FI" sz="2800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7A7C1-12A8-70A6-31B8-3083AC440692}"/>
              </a:ext>
            </a:extLst>
          </p:cNvPr>
          <p:cNvSpPr txBox="1"/>
          <p:nvPr/>
        </p:nvSpPr>
        <p:spPr>
          <a:xfrm>
            <a:off x="1051230" y="1367624"/>
            <a:ext cx="511781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Vision of a </a:t>
            </a:r>
            <a:r>
              <a:rPr lang="fi-FI" dirty="0" err="1"/>
              <a:t>device</a:t>
            </a:r>
            <a:r>
              <a:rPr lang="fi-FI" dirty="0"/>
              <a:t>/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outcome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fi-FI" dirty="0"/>
              <a:t>General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fi-FI" dirty="0"/>
              <a:t>User interfaces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List</a:t>
            </a:r>
            <a:r>
              <a:rPr lang="fi-FI" dirty="0"/>
              <a:t> of </a:t>
            </a:r>
            <a:r>
              <a:rPr lang="fi-FI" dirty="0" err="1"/>
              <a:t>features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fi-FI" dirty="0"/>
              <a:t>Physical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fi-FI" dirty="0"/>
              <a:t>Electrical/ power supply requirements</a:t>
            </a:r>
            <a:endParaRPr lang="fi-FI" dirty="0"/>
          </a:p>
          <a:p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Functionality</a:t>
            </a:r>
            <a:r>
              <a:rPr lang="fi-FI" dirty="0"/>
              <a:t> on </a:t>
            </a:r>
            <a:r>
              <a:rPr lang="fi-FI" dirty="0" err="1"/>
              <a:t>higher-level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Measurement</a:t>
            </a:r>
            <a:r>
              <a:rPr lang="fi-FI" dirty="0"/>
              <a:t> of </a:t>
            </a:r>
            <a:r>
              <a:rPr lang="fi-FI" dirty="0" err="1"/>
              <a:t>variable</a:t>
            </a:r>
            <a:r>
              <a:rPr lang="fi-FI" dirty="0"/>
              <a:t> 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Control of </a:t>
            </a:r>
            <a:r>
              <a:rPr lang="fi-FI" dirty="0" err="1"/>
              <a:t>actuator</a:t>
            </a:r>
            <a:r>
              <a:rPr lang="fi-FI" dirty="0"/>
              <a:t> 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Computing of </a:t>
            </a:r>
            <a:r>
              <a:rPr lang="fi-FI" dirty="0" err="1"/>
              <a:t>outcome</a:t>
            </a:r>
            <a:r>
              <a:rPr lang="fi-FI" dirty="0"/>
              <a:t> Z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Displaying</a:t>
            </a:r>
            <a:r>
              <a:rPr lang="fi-FI" dirty="0"/>
              <a:t> of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Data </a:t>
            </a:r>
            <a:r>
              <a:rPr lang="fi-FI" dirty="0" err="1"/>
              <a:t>transfer</a:t>
            </a:r>
            <a:r>
              <a:rPr lang="fi-FI" dirty="0"/>
              <a:t>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Outlining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diagrams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What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functions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device</a:t>
            </a:r>
            <a:r>
              <a:rPr lang="fi-FI" dirty="0"/>
              <a:t>/ </a:t>
            </a:r>
            <a:r>
              <a:rPr lang="fi-FI" dirty="0" err="1"/>
              <a:t>system</a:t>
            </a:r>
            <a:r>
              <a:rPr lang="fi-FI" dirty="0"/>
              <a:t>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8104A50-A167-C1CB-3324-F6331AE50FA4}"/>
              </a:ext>
            </a:extLst>
          </p:cNvPr>
          <p:cNvGrpSpPr/>
          <p:nvPr/>
        </p:nvGrpSpPr>
        <p:grpSpPr>
          <a:xfrm>
            <a:off x="5152445" y="1367624"/>
            <a:ext cx="3571794" cy="1775173"/>
            <a:chOff x="5152445" y="1367624"/>
            <a:chExt cx="3571794" cy="177517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26618E6-0D4E-27A6-E1AD-72503A36B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3382" y="1367624"/>
              <a:ext cx="3380857" cy="1775173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7603838-6BD7-2E89-8712-5E20F222D369}"/>
                </a:ext>
              </a:extLst>
            </p:cNvPr>
            <p:cNvSpPr/>
            <p:nvPr/>
          </p:nvSpPr>
          <p:spPr>
            <a:xfrm>
              <a:off x="5152445" y="2457968"/>
              <a:ext cx="1049575" cy="444257"/>
            </a:xfrm>
            <a:prstGeom prst="ellipse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9018045-4892-248B-3761-AAC2642A79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DA8CF097-1EF9-193B-7A4E-AB7B7199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EB3C404C-CD5F-B283-67E1-724D6D60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188305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5560D-654E-194C-8CFF-71D8DE41A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976B636-3734-7B61-CE56-784FDF8A30D6}"/>
              </a:ext>
            </a:extLst>
          </p:cNvPr>
          <p:cNvGrpSpPr/>
          <p:nvPr/>
        </p:nvGrpSpPr>
        <p:grpSpPr>
          <a:xfrm>
            <a:off x="5343382" y="1367624"/>
            <a:ext cx="3380857" cy="1775173"/>
            <a:chOff x="5343382" y="1367624"/>
            <a:chExt cx="3380857" cy="177517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D164895-6382-DAE7-A1AA-874E3ABDA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3382" y="1367624"/>
              <a:ext cx="3380857" cy="1775173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BFCE185-9972-7D1E-E287-3311FBE88DD2}"/>
                </a:ext>
              </a:extLst>
            </p:cNvPr>
            <p:cNvSpPr/>
            <p:nvPr/>
          </p:nvSpPr>
          <p:spPr>
            <a:xfrm>
              <a:off x="7203882" y="1853670"/>
              <a:ext cx="1192696" cy="523220"/>
            </a:xfrm>
            <a:prstGeom prst="ellipse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525CF99-4C65-CA75-36DE-0CFB3A7AEF96}"/>
              </a:ext>
            </a:extLst>
          </p:cNvPr>
          <p:cNvSpPr txBox="1"/>
          <p:nvPr/>
        </p:nvSpPr>
        <p:spPr>
          <a:xfrm>
            <a:off x="1137934" y="289225"/>
            <a:ext cx="68681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u="sng" dirty="0" err="1"/>
              <a:t>Acquisition</a:t>
            </a:r>
            <a:r>
              <a:rPr lang="fi-FI" sz="2800" u="sng" dirty="0"/>
              <a:t> of </a:t>
            </a:r>
            <a:r>
              <a:rPr lang="fi-FI" sz="2800" u="sng" dirty="0" err="1"/>
              <a:t>deeper</a:t>
            </a:r>
            <a:r>
              <a:rPr lang="fi-FI" sz="2800" u="sng" dirty="0"/>
              <a:t> </a:t>
            </a:r>
            <a:r>
              <a:rPr lang="fi-FI" sz="2800" u="sng" dirty="0" err="1"/>
              <a:t>technical</a:t>
            </a:r>
            <a:r>
              <a:rPr lang="fi-FI" sz="2800" u="sng" dirty="0"/>
              <a:t> </a:t>
            </a:r>
            <a:r>
              <a:rPr lang="fi-FI" sz="2800" u="sng" dirty="0" err="1"/>
              <a:t>understanding</a:t>
            </a:r>
            <a:r>
              <a:rPr lang="fi-FI" sz="2800" u="sng" dirty="0"/>
              <a:t> of </a:t>
            </a:r>
            <a:r>
              <a:rPr lang="fi-FI" sz="2800" u="sng" dirty="0" err="1"/>
              <a:t>the</a:t>
            </a:r>
            <a:r>
              <a:rPr lang="fi-FI" sz="2800" u="sng" dirty="0"/>
              <a:t> </a:t>
            </a:r>
            <a:r>
              <a:rPr lang="fi-FI" sz="2800" u="sng" dirty="0" err="1"/>
              <a:t>problem</a:t>
            </a:r>
            <a:r>
              <a:rPr lang="fi-FI" sz="2800" u="sng" dirty="0"/>
              <a:t> and </a:t>
            </a:r>
            <a:r>
              <a:rPr lang="fi-FI" sz="2800" u="sng" dirty="0" err="1"/>
              <a:t>solution</a:t>
            </a:r>
            <a:endParaRPr lang="fi-FI" sz="2800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7167A-008E-09A1-CD72-2F7B1F694A6C}"/>
              </a:ext>
            </a:extLst>
          </p:cNvPr>
          <p:cNvSpPr txBox="1"/>
          <p:nvPr/>
        </p:nvSpPr>
        <p:spPr>
          <a:xfrm>
            <a:off x="1051230" y="1367624"/>
            <a:ext cx="7810471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From</a:t>
            </a:r>
            <a:r>
              <a:rPr lang="fi-FI" dirty="0"/>
              <a:t> a set of </a:t>
            </a:r>
            <a:r>
              <a:rPr lang="fi-FI" dirty="0" err="1"/>
              <a:t>abstract</a:t>
            </a:r>
            <a:r>
              <a:rPr lang="fi-FI" dirty="0"/>
              <a:t> </a:t>
            </a:r>
            <a:r>
              <a:rPr lang="fi-FI" dirty="0" err="1"/>
              <a:t>ideas</a:t>
            </a:r>
            <a:r>
              <a:rPr lang="fi-FI" dirty="0"/>
              <a:t> </a:t>
            </a:r>
            <a:r>
              <a:rPr lang="fi-FI" dirty="0" err="1"/>
              <a:t>towards</a:t>
            </a:r>
            <a:endParaRPr lang="fi-FI" dirty="0"/>
          </a:p>
          <a:p>
            <a:r>
              <a:rPr lang="fi-FI" dirty="0" err="1"/>
              <a:t>physical</a:t>
            </a:r>
            <a:r>
              <a:rPr lang="fi-FI" dirty="0"/>
              <a:t> </a:t>
            </a:r>
            <a:r>
              <a:rPr lang="fi-FI" dirty="0" err="1"/>
              <a:t>solution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How to </a:t>
            </a:r>
            <a:r>
              <a:rPr lang="fi-FI" dirty="0" err="1"/>
              <a:t>implement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functions</a:t>
            </a:r>
            <a:r>
              <a:rPr lang="fi-FI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Acquisition</a:t>
            </a:r>
            <a:r>
              <a:rPr lang="fi-FI" dirty="0"/>
              <a:t> of </a:t>
            </a:r>
            <a:r>
              <a:rPr lang="fi-FI" dirty="0" err="1"/>
              <a:t>further</a:t>
            </a:r>
            <a:r>
              <a:rPr lang="fi-FI" dirty="0"/>
              <a:t> </a:t>
            </a:r>
            <a:r>
              <a:rPr lang="fi-FI" dirty="0" err="1"/>
              <a:t>knowledge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Physical</a:t>
            </a:r>
            <a:r>
              <a:rPr lang="fi-FI" dirty="0"/>
              <a:t> </a:t>
            </a:r>
            <a:r>
              <a:rPr lang="fi-FI" dirty="0" err="1"/>
              <a:t>understanding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Physical</a:t>
            </a:r>
            <a:r>
              <a:rPr lang="fi-FI" dirty="0"/>
              <a:t> </a:t>
            </a:r>
            <a:r>
              <a:rPr lang="fi-FI" dirty="0" err="1"/>
              <a:t>phenomenon</a:t>
            </a:r>
            <a:r>
              <a:rPr lang="fi-FI" dirty="0"/>
              <a:t> </a:t>
            </a:r>
            <a:r>
              <a:rPr lang="fi-FI" dirty="0" err="1"/>
              <a:t>converted</a:t>
            </a:r>
            <a:r>
              <a:rPr lang="fi-FI" dirty="0"/>
              <a:t> into</a:t>
            </a:r>
          </a:p>
          <a:p>
            <a:r>
              <a:rPr lang="fi-FI" dirty="0"/>
              <a:t>	an </a:t>
            </a:r>
            <a:r>
              <a:rPr lang="fi-FI" dirty="0" err="1"/>
              <a:t>electrical</a:t>
            </a:r>
            <a:r>
              <a:rPr lang="fi-FI" dirty="0"/>
              <a:t> </a:t>
            </a:r>
            <a:r>
              <a:rPr lang="fi-FI" dirty="0" err="1"/>
              <a:t>signal</a:t>
            </a:r>
            <a:r>
              <a:rPr lang="fi-FI" dirty="0"/>
              <a:t> (</a:t>
            </a:r>
            <a:r>
              <a:rPr lang="fi-FI" dirty="0" err="1"/>
              <a:t>sensor</a:t>
            </a:r>
            <a:r>
              <a:rPr lang="fi-FI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Actual</a:t>
            </a:r>
            <a:r>
              <a:rPr lang="fi-FI" dirty="0"/>
              <a:t> </a:t>
            </a:r>
            <a:r>
              <a:rPr lang="fi-FI" dirty="0" err="1"/>
              <a:t>technical</a:t>
            </a:r>
            <a:r>
              <a:rPr lang="fi-FI" dirty="0"/>
              <a:t> </a:t>
            </a:r>
            <a:r>
              <a:rPr lang="fi-FI" dirty="0" err="1"/>
              <a:t>solution</a:t>
            </a:r>
            <a:r>
              <a:rPr lang="fi-FI" dirty="0"/>
              <a:t> option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i-FI" dirty="0"/>
              <a:t>Electronic/ </a:t>
            </a:r>
            <a:r>
              <a:rPr lang="fi-FI" dirty="0" err="1"/>
              <a:t>electromechanical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Finding</a:t>
            </a:r>
            <a:r>
              <a:rPr lang="fi-FI" dirty="0"/>
              <a:t> and </a:t>
            </a:r>
            <a:r>
              <a:rPr lang="fi-FI" dirty="0" err="1"/>
              <a:t>choosing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most</a:t>
            </a:r>
            <a:r>
              <a:rPr lang="fi-FI" dirty="0"/>
              <a:t> </a:t>
            </a:r>
            <a:r>
              <a:rPr lang="fi-FI" dirty="0" err="1"/>
              <a:t>suitable</a:t>
            </a:r>
            <a:r>
              <a:rPr lang="fi-FI" dirty="0"/>
              <a:t> </a:t>
            </a:r>
            <a:r>
              <a:rPr lang="fi-FI" dirty="0" err="1"/>
              <a:t>solution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Course </a:t>
            </a:r>
            <a:r>
              <a:rPr lang="fi-FI" dirty="0" err="1"/>
              <a:t>materials</a:t>
            </a:r>
            <a:r>
              <a:rPr lang="fi-FI" dirty="0"/>
              <a:t>, </a:t>
            </a:r>
            <a:r>
              <a:rPr lang="fi-FI" dirty="0" err="1"/>
              <a:t>tutorials</a:t>
            </a:r>
            <a:r>
              <a:rPr lang="fi-FI" dirty="0"/>
              <a:t>, web </a:t>
            </a:r>
            <a:r>
              <a:rPr lang="fi-FI" dirty="0" err="1"/>
              <a:t>resources</a:t>
            </a:r>
            <a:r>
              <a:rPr lang="fi-FI" dirty="0"/>
              <a:t> etc.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Key </a:t>
            </a:r>
            <a:r>
              <a:rPr lang="fi-FI" dirty="0" err="1"/>
              <a:t>topics</a:t>
            </a:r>
            <a:r>
              <a:rPr lang="fi-FI" dirty="0"/>
              <a:t> to </a:t>
            </a:r>
            <a:r>
              <a:rPr lang="fi-FI" dirty="0" err="1"/>
              <a:t>start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: </a:t>
            </a:r>
            <a:r>
              <a:rPr lang="fi-FI" dirty="0" err="1"/>
              <a:t>power</a:t>
            </a:r>
            <a:r>
              <a:rPr lang="fi-FI" dirty="0"/>
              <a:t> </a:t>
            </a:r>
            <a:r>
              <a:rPr lang="fi-FI" dirty="0" err="1"/>
              <a:t>delivery</a:t>
            </a:r>
            <a:r>
              <a:rPr lang="fi-FI" dirty="0"/>
              <a:t> </a:t>
            </a:r>
            <a:r>
              <a:rPr lang="fi-FI" dirty="0" err="1"/>
              <a:t>system</a:t>
            </a:r>
            <a:r>
              <a:rPr lang="fi-FI" dirty="0"/>
              <a:t>, </a:t>
            </a:r>
            <a:r>
              <a:rPr lang="fi-FI" dirty="0" err="1"/>
              <a:t>sensors</a:t>
            </a:r>
            <a:r>
              <a:rPr lang="fi-FI" dirty="0"/>
              <a:t>, </a:t>
            </a:r>
            <a:r>
              <a:rPr lang="fi-FI" dirty="0" err="1"/>
              <a:t>development</a:t>
            </a:r>
            <a:endParaRPr lang="fi-FI" dirty="0"/>
          </a:p>
          <a:p>
            <a:pPr lvl="1"/>
            <a:r>
              <a:rPr lang="fi-FI" dirty="0" err="1"/>
              <a:t>board</a:t>
            </a:r>
            <a:r>
              <a:rPr lang="fi-FI" dirty="0"/>
              <a:t> </a:t>
            </a:r>
            <a:r>
              <a:rPr lang="fi-FI" dirty="0" err="1"/>
              <a:t>resources</a:t>
            </a:r>
            <a:r>
              <a:rPr lang="fi-FI" dirty="0"/>
              <a:t>, </a:t>
            </a:r>
            <a:r>
              <a:rPr lang="fi-FI" dirty="0" err="1"/>
              <a:t>peripheral</a:t>
            </a:r>
            <a:r>
              <a:rPr lang="fi-FI" dirty="0"/>
              <a:t> </a:t>
            </a:r>
            <a:r>
              <a:rPr lang="fi-FI" dirty="0" err="1"/>
              <a:t>communication</a:t>
            </a:r>
            <a:r>
              <a:rPr lang="fi-FI" dirty="0"/>
              <a:t> </a:t>
            </a:r>
            <a:r>
              <a:rPr lang="fi-FI" dirty="0" err="1"/>
              <a:t>systems</a:t>
            </a:r>
            <a:r>
              <a:rPr lang="fi-FI" dirty="0"/>
              <a:t> (SPI, I2C, USB etc.)</a:t>
            </a:r>
          </a:p>
          <a:p>
            <a:pPr lvl="1"/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Subdivide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problem</a:t>
            </a:r>
            <a:r>
              <a:rPr lang="fi-FI" dirty="0"/>
              <a:t>/ </a:t>
            </a:r>
            <a:r>
              <a:rPr lang="fi-FI" dirty="0" err="1"/>
              <a:t>function</a:t>
            </a:r>
            <a:r>
              <a:rPr lang="fi-FI" dirty="0"/>
              <a:t> into a </a:t>
            </a:r>
            <a:r>
              <a:rPr lang="fi-FI" dirty="0" err="1"/>
              <a:t>subset</a:t>
            </a:r>
            <a:r>
              <a:rPr lang="fi-FI" dirty="0"/>
              <a:t> of </a:t>
            </a:r>
            <a:r>
              <a:rPr lang="fi-FI" dirty="0" err="1"/>
              <a:t>operations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Analyse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problem-solution</a:t>
            </a:r>
            <a:r>
              <a:rPr lang="fi-FI" dirty="0"/>
              <a:t> </a:t>
            </a:r>
            <a:r>
              <a:rPr lang="fi-FI" dirty="0" err="1"/>
              <a:t>complex</a:t>
            </a:r>
            <a:r>
              <a:rPr lang="fi-FI" dirty="0"/>
              <a:t> on </a:t>
            </a:r>
            <a:r>
              <a:rPr lang="fi-FI" dirty="0" err="1"/>
              <a:t>different</a:t>
            </a:r>
            <a:r>
              <a:rPr lang="fi-FI" dirty="0"/>
              <a:t> </a:t>
            </a:r>
            <a:r>
              <a:rPr lang="fi-FI" dirty="0" err="1"/>
              <a:t>domains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Draw</a:t>
            </a:r>
            <a:r>
              <a:rPr lang="fi-FI" dirty="0"/>
              <a:t> </a:t>
            </a:r>
            <a:r>
              <a:rPr lang="fi-FI" dirty="0" err="1"/>
              <a:t>diagrams</a:t>
            </a:r>
            <a:endParaRPr lang="fi-FI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i-FI" dirty="0"/>
              <a:t>Power, </a:t>
            </a:r>
            <a:r>
              <a:rPr lang="fi-FI" dirty="0" err="1"/>
              <a:t>signals</a:t>
            </a:r>
            <a:r>
              <a:rPr lang="fi-FI" dirty="0"/>
              <a:t>, </a:t>
            </a:r>
            <a:r>
              <a:rPr lang="fi-FI" dirty="0" err="1"/>
              <a:t>timing</a:t>
            </a:r>
            <a:r>
              <a:rPr lang="fi-FI" dirty="0"/>
              <a:t>, </a:t>
            </a:r>
            <a:r>
              <a:rPr lang="fi-FI" dirty="0" err="1"/>
              <a:t>communication</a:t>
            </a:r>
            <a:r>
              <a:rPr lang="fi-FI" dirty="0"/>
              <a:t> etc.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CF8364-1D77-D6F3-4271-F0C9B9747D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2B53D89E-CE7E-E1BF-96DF-DCFA30C4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747B029-18CD-01B9-9E85-B9DCE530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945155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1B28C-A987-87F8-E135-CAABFC3CC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31D9BDF-EA9E-653A-B21A-F285108B3617}"/>
              </a:ext>
            </a:extLst>
          </p:cNvPr>
          <p:cNvGrpSpPr/>
          <p:nvPr/>
        </p:nvGrpSpPr>
        <p:grpSpPr>
          <a:xfrm>
            <a:off x="5343382" y="1298989"/>
            <a:ext cx="3380857" cy="1843808"/>
            <a:chOff x="5343382" y="1298989"/>
            <a:chExt cx="3380857" cy="184380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E17511C-6C49-B0A6-4EF1-77E484A01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3382" y="1367624"/>
              <a:ext cx="3380857" cy="1775173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19A8CAA-FA78-4066-201F-C232BE587DD8}"/>
                </a:ext>
              </a:extLst>
            </p:cNvPr>
            <p:cNvSpPr/>
            <p:nvPr/>
          </p:nvSpPr>
          <p:spPr>
            <a:xfrm>
              <a:off x="6345141" y="1298989"/>
              <a:ext cx="1192696" cy="442348"/>
            </a:xfrm>
            <a:prstGeom prst="ellipse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13D83C2-C6F6-5AF2-E057-A0E4298844ED}"/>
              </a:ext>
            </a:extLst>
          </p:cNvPr>
          <p:cNvSpPr txBox="1"/>
          <p:nvPr/>
        </p:nvSpPr>
        <p:spPr>
          <a:xfrm>
            <a:off x="1248423" y="289225"/>
            <a:ext cx="66471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Seach for available viable component options</a:t>
            </a:r>
            <a:endParaRPr lang="fi-FI" sz="2800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B9D66B-240A-770C-8390-AFCC47264FBE}"/>
              </a:ext>
            </a:extLst>
          </p:cNvPr>
          <p:cNvSpPr txBox="1"/>
          <p:nvPr/>
        </p:nvSpPr>
        <p:spPr>
          <a:xfrm>
            <a:off x="1051230" y="1367624"/>
            <a:ext cx="426039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Search</a:t>
            </a:r>
            <a:r>
              <a:rPr lang="fi-FI" dirty="0"/>
              <a:t> for </a:t>
            </a:r>
            <a:r>
              <a:rPr lang="fi-FI" dirty="0" err="1"/>
              <a:t>available</a:t>
            </a:r>
            <a:r>
              <a:rPr lang="fi-FI" dirty="0"/>
              <a:t> </a:t>
            </a:r>
            <a:r>
              <a:rPr lang="fi-FI" dirty="0" err="1"/>
              <a:t>components</a:t>
            </a:r>
            <a:endParaRPr lang="fi-FI" dirty="0"/>
          </a:p>
          <a:p>
            <a:r>
              <a:rPr lang="fi-FI" dirty="0" err="1"/>
              <a:t>performing</a:t>
            </a:r>
            <a:r>
              <a:rPr lang="fi-FI" dirty="0"/>
              <a:t> </a:t>
            </a:r>
            <a:r>
              <a:rPr lang="fi-FI" dirty="0" err="1"/>
              <a:t>required</a:t>
            </a:r>
            <a:r>
              <a:rPr lang="fi-FI" dirty="0"/>
              <a:t> </a:t>
            </a:r>
            <a:r>
              <a:rPr lang="fi-FI" dirty="0" err="1"/>
              <a:t>functions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Manufacturers</a:t>
            </a:r>
            <a:r>
              <a:rPr lang="fi-FI" dirty="0"/>
              <a:t>, </a:t>
            </a:r>
            <a:r>
              <a:rPr lang="fi-FI" dirty="0" err="1"/>
              <a:t>suppliers</a:t>
            </a:r>
            <a:r>
              <a:rPr lang="fi-FI" dirty="0"/>
              <a:t> (</a:t>
            </a:r>
            <a:r>
              <a:rPr lang="fi-FI" dirty="0" err="1"/>
              <a:t>Digikey</a:t>
            </a:r>
            <a:r>
              <a:rPr lang="fi-FI" dirty="0"/>
              <a:t> e.g.)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Several</a:t>
            </a:r>
            <a:r>
              <a:rPr lang="fi-FI" dirty="0"/>
              <a:t> </a:t>
            </a:r>
            <a:r>
              <a:rPr lang="fi-FI" dirty="0" err="1"/>
              <a:t>options</a:t>
            </a:r>
            <a:r>
              <a:rPr lang="fi-FI" dirty="0"/>
              <a:t> to </a:t>
            </a:r>
            <a:r>
              <a:rPr lang="fi-FI" dirty="0" err="1"/>
              <a:t>choose</a:t>
            </a:r>
            <a:r>
              <a:rPr lang="fi-FI" dirty="0"/>
              <a:t> </a:t>
            </a:r>
            <a:r>
              <a:rPr lang="fi-FI" dirty="0" err="1"/>
              <a:t>from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Critical </a:t>
            </a:r>
            <a:r>
              <a:rPr lang="fi-FI" dirty="0" err="1"/>
              <a:t>comparison</a:t>
            </a:r>
            <a:r>
              <a:rPr lang="fi-FI" dirty="0"/>
              <a:t> of</a:t>
            </a:r>
          </a:p>
          <a:p>
            <a:pPr lvl="1"/>
            <a:r>
              <a:rPr lang="fi-FI" dirty="0" err="1"/>
              <a:t>characteristics</a:t>
            </a:r>
            <a:endParaRPr lang="fi-FI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i-FI" dirty="0" err="1"/>
              <a:t>Availability</a:t>
            </a:r>
            <a:endParaRPr lang="fi-FI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i-FI" dirty="0" err="1"/>
              <a:t>Functionality</a:t>
            </a:r>
            <a:endParaRPr lang="fi-FI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i-FI" dirty="0"/>
              <a:t>Performance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i-FI" dirty="0"/>
              <a:t>Price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Final</a:t>
            </a:r>
            <a:r>
              <a:rPr lang="fi-FI" dirty="0"/>
              <a:t> </a:t>
            </a:r>
            <a:r>
              <a:rPr lang="fi-FI" dirty="0" err="1"/>
              <a:t>component</a:t>
            </a:r>
            <a:r>
              <a:rPr lang="fi-FI" dirty="0"/>
              <a:t> </a:t>
            </a:r>
            <a:r>
              <a:rPr lang="fi-FI" dirty="0" err="1"/>
              <a:t>choices</a:t>
            </a:r>
            <a:endParaRPr lang="fi-FI" dirty="0"/>
          </a:p>
          <a:p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Which</a:t>
            </a:r>
            <a:r>
              <a:rPr lang="fi-FI" dirty="0"/>
              <a:t> </a:t>
            </a:r>
            <a:r>
              <a:rPr lang="fi-FI" dirty="0" err="1"/>
              <a:t>actual</a:t>
            </a:r>
            <a:r>
              <a:rPr lang="fi-FI" dirty="0"/>
              <a:t> </a:t>
            </a:r>
            <a:r>
              <a:rPr lang="fi-FI" dirty="0" err="1"/>
              <a:t>available</a:t>
            </a:r>
            <a:r>
              <a:rPr lang="fi-FI" dirty="0"/>
              <a:t> </a:t>
            </a:r>
            <a:r>
              <a:rPr lang="fi-FI" dirty="0" err="1"/>
              <a:t>components</a:t>
            </a:r>
            <a:endParaRPr lang="fi-FI" dirty="0"/>
          </a:p>
          <a:p>
            <a:r>
              <a:rPr lang="fi-FI" dirty="0" err="1"/>
              <a:t>performs</a:t>
            </a:r>
            <a:r>
              <a:rPr lang="fi-FI" dirty="0"/>
              <a:t> </a:t>
            </a:r>
            <a:r>
              <a:rPr lang="fi-FI" dirty="0" err="1"/>
              <a:t>required</a:t>
            </a:r>
            <a:r>
              <a:rPr lang="fi-FI" dirty="0"/>
              <a:t> </a:t>
            </a:r>
            <a:r>
              <a:rPr lang="fi-FI" dirty="0" err="1"/>
              <a:t>functions</a:t>
            </a:r>
            <a:r>
              <a:rPr lang="fi-FI" dirty="0"/>
              <a:t>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F9A424-F4B4-0324-173B-059E08BC05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44498F33-C8A4-C57E-5707-6B8BADEE1A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76C51F99-7142-C854-2059-856536DF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879176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1FB06-71CF-49FF-CDF8-880F866C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9BE4CE2-50C4-502C-1007-B24B4F959586}"/>
              </a:ext>
            </a:extLst>
          </p:cNvPr>
          <p:cNvGrpSpPr/>
          <p:nvPr/>
        </p:nvGrpSpPr>
        <p:grpSpPr>
          <a:xfrm>
            <a:off x="5343382" y="1367624"/>
            <a:ext cx="3380857" cy="1775173"/>
            <a:chOff x="5343382" y="1367624"/>
            <a:chExt cx="3380857" cy="177517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424D95-43AE-5E0A-7F7B-AB4E2EFBE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3382" y="1367624"/>
              <a:ext cx="3380857" cy="1775173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5BF64BF-AB57-2AAD-A413-6213B3313669}"/>
                </a:ext>
              </a:extLst>
            </p:cNvPr>
            <p:cNvSpPr/>
            <p:nvPr/>
          </p:nvSpPr>
          <p:spPr>
            <a:xfrm>
              <a:off x="5772643" y="1848605"/>
              <a:ext cx="993915" cy="512931"/>
            </a:xfrm>
            <a:prstGeom prst="ellipse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6F8EA95-160D-261A-6573-9478A867809C}"/>
              </a:ext>
            </a:extLst>
          </p:cNvPr>
          <p:cNvSpPr txBox="1"/>
          <p:nvPr/>
        </p:nvSpPr>
        <p:spPr>
          <a:xfrm>
            <a:off x="2077086" y="289225"/>
            <a:ext cx="4989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Refining the specifications</a:t>
            </a:r>
            <a:endParaRPr lang="fi-FI" sz="2800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8B02D-0CD6-014D-C369-FC7C1F148F5E}"/>
              </a:ext>
            </a:extLst>
          </p:cNvPr>
          <p:cNvSpPr txBox="1"/>
          <p:nvPr/>
        </p:nvSpPr>
        <p:spPr>
          <a:xfrm>
            <a:off x="1051230" y="1367624"/>
            <a:ext cx="549368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Increased</a:t>
            </a:r>
            <a:r>
              <a:rPr lang="fi-FI" dirty="0"/>
              <a:t> </a:t>
            </a:r>
            <a:r>
              <a:rPr lang="fi-FI" dirty="0" err="1"/>
              <a:t>understanding</a:t>
            </a:r>
            <a:r>
              <a:rPr lang="fi-FI" dirty="0"/>
              <a:t> of </a:t>
            </a:r>
            <a:r>
              <a:rPr lang="fi-FI" dirty="0" err="1"/>
              <a:t>the</a:t>
            </a:r>
            <a:endParaRPr lang="fi-FI" dirty="0"/>
          </a:p>
          <a:p>
            <a:r>
              <a:rPr lang="fi-FI" dirty="0" err="1"/>
              <a:t>Problem-solution</a:t>
            </a:r>
            <a:r>
              <a:rPr lang="fi-FI" dirty="0"/>
              <a:t> </a:t>
            </a:r>
            <a:r>
              <a:rPr lang="fi-FI" dirty="0" err="1"/>
              <a:t>complex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What</a:t>
            </a:r>
            <a:r>
              <a:rPr lang="fi-FI" dirty="0"/>
              <a:t> is </a:t>
            </a:r>
            <a:r>
              <a:rPr lang="fi-FI" dirty="0" err="1"/>
              <a:t>possible</a:t>
            </a:r>
            <a:r>
              <a:rPr lang="fi-FI" dirty="0"/>
              <a:t> and </a:t>
            </a:r>
            <a:r>
              <a:rPr lang="fi-FI" dirty="0" err="1"/>
              <a:t>how</a:t>
            </a:r>
            <a:r>
              <a:rPr lang="fi-FI" dirty="0"/>
              <a:t> </a:t>
            </a:r>
            <a:r>
              <a:rPr lang="fi-FI" dirty="0" err="1"/>
              <a:t>its</a:t>
            </a:r>
            <a:r>
              <a:rPr lang="fi-FI" dirty="0"/>
              <a:t> </a:t>
            </a:r>
            <a:r>
              <a:rPr lang="fi-FI" dirty="0" err="1"/>
              <a:t>done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What</a:t>
            </a:r>
            <a:r>
              <a:rPr lang="fi-FI" dirty="0"/>
              <a:t> is </a:t>
            </a:r>
            <a:r>
              <a:rPr lang="fi-FI" dirty="0" err="1"/>
              <a:t>sensible</a:t>
            </a:r>
            <a:r>
              <a:rPr lang="fi-FI" dirty="0"/>
              <a:t> in </a:t>
            </a:r>
            <a:r>
              <a:rPr lang="fi-FI" dirty="0" err="1"/>
              <a:t>practice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Which</a:t>
            </a:r>
            <a:r>
              <a:rPr lang="fi-FI" dirty="0"/>
              <a:t> </a:t>
            </a:r>
            <a:r>
              <a:rPr lang="fi-FI" dirty="0" err="1"/>
              <a:t>component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available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Resources </a:t>
            </a:r>
            <a:r>
              <a:rPr lang="fi-FI" dirty="0" err="1"/>
              <a:t>available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Do</a:t>
            </a:r>
            <a:r>
              <a:rPr lang="fi-FI" dirty="0"/>
              <a:t> </a:t>
            </a:r>
            <a:r>
              <a:rPr lang="fi-FI" dirty="0" err="1"/>
              <a:t>performance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r>
              <a:rPr lang="fi-FI" dirty="0"/>
              <a:t> </a:t>
            </a:r>
            <a:r>
              <a:rPr lang="fi-FI" dirty="0" err="1"/>
              <a:t>match</a:t>
            </a:r>
            <a:r>
              <a:rPr lang="fi-FI" dirty="0"/>
              <a:t>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Possible</a:t>
            </a:r>
            <a:r>
              <a:rPr lang="fi-FI" dirty="0"/>
              <a:t> </a:t>
            </a:r>
            <a:r>
              <a:rPr lang="fi-FI" dirty="0" err="1"/>
              <a:t>need</a:t>
            </a:r>
            <a:r>
              <a:rPr lang="fi-FI" dirty="0"/>
              <a:t> to </a:t>
            </a:r>
            <a:r>
              <a:rPr lang="fi-FI" dirty="0" err="1"/>
              <a:t>revise</a:t>
            </a:r>
            <a:r>
              <a:rPr lang="fi-FI" dirty="0"/>
              <a:t> </a:t>
            </a:r>
            <a:r>
              <a:rPr lang="fi-FI" dirty="0" err="1"/>
              <a:t>initial</a:t>
            </a:r>
            <a:r>
              <a:rPr lang="fi-FI" dirty="0"/>
              <a:t> </a:t>
            </a:r>
            <a:r>
              <a:rPr lang="fi-FI" dirty="0" err="1"/>
              <a:t>specifications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Requirements</a:t>
            </a:r>
            <a:r>
              <a:rPr lang="fi-FI" dirty="0"/>
              <a:t> </a:t>
            </a:r>
            <a:r>
              <a:rPr lang="fi-FI" dirty="0" err="1"/>
              <a:t>might</a:t>
            </a:r>
            <a:r>
              <a:rPr lang="fi-FI" dirty="0"/>
              <a:t> </a:t>
            </a:r>
            <a:r>
              <a:rPr lang="fi-FI" dirty="0" err="1"/>
              <a:t>become</a:t>
            </a:r>
            <a:r>
              <a:rPr lang="fi-FI" dirty="0"/>
              <a:t> </a:t>
            </a:r>
            <a:r>
              <a:rPr lang="fi-FI" dirty="0" err="1"/>
              <a:t>stricter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looser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Features</a:t>
            </a:r>
            <a:r>
              <a:rPr lang="fi-FI" dirty="0"/>
              <a:t> </a:t>
            </a:r>
            <a:r>
              <a:rPr lang="fi-FI" dirty="0" err="1"/>
              <a:t>modified</a:t>
            </a:r>
            <a:r>
              <a:rPr lang="fi-FI" dirty="0"/>
              <a:t>, </a:t>
            </a:r>
            <a:r>
              <a:rPr lang="fi-FI" dirty="0" err="1"/>
              <a:t>added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removed</a:t>
            </a:r>
            <a:r>
              <a:rPr lang="fi-FI" dirty="0"/>
              <a:t>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Is </a:t>
            </a:r>
            <a:r>
              <a:rPr lang="fi-FI" dirty="0" err="1"/>
              <a:t>there</a:t>
            </a:r>
            <a:r>
              <a:rPr lang="fi-FI" dirty="0"/>
              <a:t> a </a:t>
            </a:r>
            <a:r>
              <a:rPr lang="fi-FI" dirty="0" err="1"/>
              <a:t>need</a:t>
            </a:r>
            <a:r>
              <a:rPr lang="fi-FI" dirty="0"/>
              <a:t> to </a:t>
            </a:r>
            <a:r>
              <a:rPr lang="fi-FI" dirty="0" err="1"/>
              <a:t>revise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current</a:t>
            </a:r>
            <a:r>
              <a:rPr lang="fi-FI" dirty="0"/>
              <a:t> </a:t>
            </a:r>
            <a:r>
              <a:rPr lang="fi-FI" dirty="0" err="1"/>
              <a:t>specifications</a:t>
            </a:r>
            <a:r>
              <a:rPr lang="fi-FI" dirty="0"/>
              <a:t>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5A03A0-BAAF-A427-1E60-439D681B16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09782C60-7495-041C-EC24-2F8138A27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94BE8B1E-1CF2-B801-0297-5B171FFF7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262562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54BD9-A8AA-4EC0-A858-CADA7674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C0EB7E-BAA2-459E-8B66-479173E509FE}"/>
              </a:ext>
            </a:extLst>
          </p:cNvPr>
          <p:cNvGrpSpPr/>
          <p:nvPr/>
        </p:nvGrpSpPr>
        <p:grpSpPr>
          <a:xfrm>
            <a:off x="5343382" y="1367624"/>
            <a:ext cx="3506417" cy="1804052"/>
            <a:chOff x="5343382" y="1367624"/>
            <a:chExt cx="3506417" cy="180405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39D3952-E898-D356-337D-490FC8537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3382" y="1367624"/>
              <a:ext cx="3380857" cy="1775173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29356BD-80E5-2398-6219-F6E1D6121D3A}"/>
                </a:ext>
              </a:extLst>
            </p:cNvPr>
            <p:cNvSpPr/>
            <p:nvPr/>
          </p:nvSpPr>
          <p:spPr>
            <a:xfrm>
              <a:off x="7784326" y="2330709"/>
              <a:ext cx="1065473" cy="840967"/>
            </a:xfrm>
            <a:prstGeom prst="ellipse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3181DAB-E5D7-1B82-401B-82C5C24A0E7C}"/>
              </a:ext>
            </a:extLst>
          </p:cNvPr>
          <p:cNvSpPr txBox="1"/>
          <p:nvPr/>
        </p:nvSpPr>
        <p:spPr>
          <a:xfrm>
            <a:off x="1" y="289225"/>
            <a:ext cx="9143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Sufficient understanding achieved, technical specifications and final component selection completed</a:t>
            </a:r>
            <a:endParaRPr lang="fi-FI" sz="2800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A028A-586E-CC7B-2A7C-826E6AA50117}"/>
              </a:ext>
            </a:extLst>
          </p:cNvPr>
          <p:cNvSpPr txBox="1"/>
          <p:nvPr/>
        </p:nvSpPr>
        <p:spPr>
          <a:xfrm>
            <a:off x="1051230" y="1367624"/>
            <a:ext cx="514063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Problem</a:t>
            </a:r>
            <a:r>
              <a:rPr lang="fi-FI" dirty="0"/>
              <a:t> and </a:t>
            </a:r>
            <a:r>
              <a:rPr lang="fi-FI" dirty="0" err="1"/>
              <a:t>solution</a:t>
            </a:r>
            <a:r>
              <a:rPr lang="fi-FI" dirty="0"/>
              <a:t> </a:t>
            </a:r>
            <a:r>
              <a:rPr lang="fi-FI" dirty="0" err="1"/>
              <a:t>understood</a:t>
            </a:r>
            <a:r>
              <a:rPr lang="fi-FI" dirty="0"/>
              <a:t> and </a:t>
            </a:r>
            <a:r>
              <a:rPr lang="fi-FI" dirty="0" err="1"/>
              <a:t>confined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Sufficient</a:t>
            </a:r>
            <a:r>
              <a:rPr lang="fi-FI" dirty="0"/>
              <a:t> </a:t>
            </a:r>
            <a:r>
              <a:rPr lang="fi-FI" dirty="0" err="1"/>
              <a:t>technical</a:t>
            </a:r>
            <a:r>
              <a:rPr lang="fi-FI" dirty="0"/>
              <a:t> </a:t>
            </a:r>
            <a:r>
              <a:rPr lang="fi-FI" dirty="0" err="1"/>
              <a:t>understanding</a:t>
            </a:r>
            <a:r>
              <a:rPr lang="fi-FI" dirty="0"/>
              <a:t> </a:t>
            </a:r>
            <a:r>
              <a:rPr lang="fi-FI" dirty="0" err="1"/>
              <a:t>achieved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Technical </a:t>
            </a:r>
            <a:r>
              <a:rPr lang="fi-FI" dirty="0" err="1"/>
              <a:t>details</a:t>
            </a:r>
            <a:r>
              <a:rPr lang="fi-FI" dirty="0"/>
              <a:t> </a:t>
            </a:r>
            <a:r>
              <a:rPr lang="fi-FI" dirty="0" err="1"/>
              <a:t>covered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Technical </a:t>
            </a:r>
            <a:r>
              <a:rPr lang="fi-FI" dirty="0" err="1"/>
              <a:t>questions</a:t>
            </a:r>
            <a:r>
              <a:rPr lang="fi-FI" dirty="0"/>
              <a:t> </a:t>
            </a:r>
            <a:r>
              <a:rPr lang="fi-FI" dirty="0" err="1"/>
              <a:t>answered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Ready</a:t>
            </a:r>
            <a:r>
              <a:rPr lang="fi-FI" dirty="0"/>
              <a:t> to </a:t>
            </a:r>
            <a:r>
              <a:rPr lang="fi-FI" dirty="0" err="1"/>
              <a:t>move</a:t>
            </a:r>
            <a:r>
              <a:rPr lang="fi-FI" dirty="0"/>
              <a:t> to </a:t>
            </a:r>
            <a:r>
              <a:rPr lang="fi-FI" dirty="0" err="1"/>
              <a:t>next</a:t>
            </a:r>
            <a:r>
              <a:rPr lang="fi-FI" dirty="0"/>
              <a:t> </a:t>
            </a:r>
            <a:r>
              <a:rPr lang="fi-FI" dirty="0" err="1"/>
              <a:t>phase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Schematics</a:t>
            </a:r>
            <a:r>
              <a:rPr lang="fi-FI" dirty="0"/>
              <a:t> and layout design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73F955-D318-91E6-95F5-1FB41EA991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A197E5B2-6F61-1316-73ED-5AB995794E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482E3F4-EAAE-8B36-56BB-99B08EAA7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249602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140AF-7BC3-3EE5-8BB0-55A47AEE1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D44D8C6-4EB0-11AF-A1B4-A4C91B7D34FC}"/>
              </a:ext>
            </a:extLst>
          </p:cNvPr>
          <p:cNvSpPr txBox="1"/>
          <p:nvPr/>
        </p:nvSpPr>
        <p:spPr>
          <a:xfrm>
            <a:off x="878949" y="289225"/>
            <a:ext cx="73861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Electronic components suppliers, component selection and search engines</a:t>
            </a:r>
            <a:endParaRPr lang="fi-FI" sz="2800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8B6514-E216-9D1B-51A3-DB16144358D8}"/>
              </a:ext>
            </a:extLst>
          </p:cNvPr>
          <p:cNvSpPr txBox="1"/>
          <p:nvPr/>
        </p:nvSpPr>
        <p:spPr>
          <a:xfrm>
            <a:off x="1051230" y="1367624"/>
            <a:ext cx="639912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Digikey</a:t>
            </a:r>
            <a:r>
              <a:rPr lang="fi-FI" dirty="0"/>
              <a:t>, as an </a:t>
            </a:r>
            <a:r>
              <a:rPr lang="fi-FI" dirty="0" err="1"/>
              <a:t>example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Vast</a:t>
            </a:r>
            <a:r>
              <a:rPr lang="fi-FI" dirty="0"/>
              <a:t> </a:t>
            </a:r>
            <a:r>
              <a:rPr lang="fi-FI" dirty="0" err="1"/>
              <a:t>selection</a:t>
            </a:r>
            <a:r>
              <a:rPr lang="fi-FI" dirty="0"/>
              <a:t> of </a:t>
            </a:r>
            <a:r>
              <a:rPr lang="fi-FI" dirty="0" err="1"/>
              <a:t>components</a:t>
            </a:r>
            <a:r>
              <a:rPr lang="fi-FI" dirty="0"/>
              <a:t> </a:t>
            </a:r>
            <a:r>
              <a:rPr lang="fi-FI" dirty="0" err="1"/>
              <a:t>available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Search</a:t>
            </a:r>
            <a:r>
              <a:rPr lang="fi-FI" dirty="0"/>
              <a:t> </a:t>
            </a:r>
            <a:r>
              <a:rPr lang="fi-FI" dirty="0" err="1"/>
              <a:t>engine</a:t>
            </a:r>
            <a:r>
              <a:rPr lang="fi-FI" dirty="0"/>
              <a:t> (web </a:t>
            </a:r>
            <a:r>
              <a:rPr lang="fi-FI" dirty="0" err="1"/>
              <a:t>page</a:t>
            </a:r>
            <a:r>
              <a:rPr lang="fi-FI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By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key</a:t>
            </a:r>
            <a:r>
              <a:rPr lang="fi-FI" dirty="0"/>
              <a:t> </a:t>
            </a:r>
            <a:r>
              <a:rPr lang="fi-FI" dirty="0" err="1"/>
              <a:t>parameters</a:t>
            </a:r>
            <a:r>
              <a:rPr lang="fi-FI" dirty="0"/>
              <a:t> of </a:t>
            </a:r>
            <a:r>
              <a:rPr lang="fi-FI" dirty="0" err="1"/>
              <a:t>your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Find</a:t>
            </a:r>
            <a:r>
              <a:rPr lang="fi-FI" dirty="0"/>
              <a:t> </a:t>
            </a:r>
            <a:r>
              <a:rPr lang="fi-FI" dirty="0" err="1"/>
              <a:t>potentially</a:t>
            </a:r>
            <a:r>
              <a:rPr lang="fi-FI" dirty="0"/>
              <a:t> </a:t>
            </a:r>
            <a:r>
              <a:rPr lang="fi-FI" dirty="0" err="1"/>
              <a:t>suitable</a:t>
            </a:r>
            <a:r>
              <a:rPr lang="fi-FI" dirty="0"/>
              <a:t> </a:t>
            </a:r>
            <a:r>
              <a:rPr lang="fi-FI" dirty="0" err="1"/>
              <a:t>component</a:t>
            </a:r>
            <a:r>
              <a:rPr lang="fi-FI" dirty="0"/>
              <a:t> </a:t>
            </a:r>
            <a:r>
              <a:rPr lang="fi-FI" dirty="0" err="1"/>
              <a:t>options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Study </a:t>
            </a:r>
            <a:r>
              <a:rPr lang="fi-FI" dirty="0" err="1"/>
              <a:t>datasheets</a:t>
            </a:r>
            <a:r>
              <a:rPr lang="fi-FI" dirty="0"/>
              <a:t> to </a:t>
            </a:r>
            <a:r>
              <a:rPr lang="fi-FI" dirty="0" err="1"/>
              <a:t>select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best</a:t>
            </a:r>
            <a:r>
              <a:rPr lang="fi-FI" dirty="0"/>
              <a:t> </a:t>
            </a:r>
            <a:r>
              <a:rPr lang="fi-FI" dirty="0" err="1"/>
              <a:t>suited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Compare</a:t>
            </a:r>
            <a:r>
              <a:rPr lang="fi-FI" dirty="0"/>
              <a:t> </a:t>
            </a:r>
            <a:r>
              <a:rPr lang="fi-FI" dirty="0" err="1"/>
              <a:t>characteristics</a:t>
            </a:r>
            <a:r>
              <a:rPr lang="fi-FI" dirty="0"/>
              <a:t> vs. </a:t>
            </a:r>
            <a:r>
              <a:rPr lang="fi-FI" dirty="0" err="1"/>
              <a:t>requirements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Note</a:t>
            </a:r>
            <a:r>
              <a:rPr lang="fi-FI" dirty="0"/>
              <a:t> </a:t>
            </a:r>
            <a:r>
              <a:rPr lang="fi-FI" dirty="0" err="1"/>
              <a:t>also</a:t>
            </a:r>
            <a:r>
              <a:rPr lang="fi-FI" dirty="0"/>
              <a:t> </a:t>
            </a:r>
            <a:r>
              <a:rPr lang="fi-FI" dirty="0" err="1"/>
              <a:t>availability</a:t>
            </a:r>
            <a:r>
              <a:rPr lang="fi-FI" dirty="0"/>
              <a:t>, ”</a:t>
            </a:r>
            <a:r>
              <a:rPr lang="fi-FI" dirty="0" err="1"/>
              <a:t>active</a:t>
            </a:r>
            <a:r>
              <a:rPr lang="fi-FI" dirty="0"/>
              <a:t>” status and </a:t>
            </a:r>
            <a:r>
              <a:rPr lang="fi-FI" dirty="0" err="1"/>
              <a:t>delivery</a:t>
            </a:r>
            <a:r>
              <a:rPr lang="fi-FI" dirty="0"/>
              <a:t> </a:t>
            </a:r>
            <a:r>
              <a:rPr lang="fi-FI" dirty="0" err="1"/>
              <a:t>times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Datasheet</a:t>
            </a:r>
            <a:r>
              <a:rPr lang="fi-FI" dirty="0"/>
              <a:t> and </a:t>
            </a:r>
            <a:r>
              <a:rPr lang="fi-FI" dirty="0" err="1"/>
              <a:t>further</a:t>
            </a:r>
            <a:r>
              <a:rPr lang="fi-FI" dirty="0"/>
              <a:t> info </a:t>
            </a:r>
            <a:r>
              <a:rPr lang="fi-FI" dirty="0" err="1"/>
              <a:t>also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manufacturers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Component </a:t>
            </a:r>
            <a:r>
              <a:rPr lang="fi-FI" dirty="0" err="1"/>
              <a:t>order</a:t>
            </a:r>
            <a:r>
              <a:rPr lang="fi-FI" dirty="0"/>
              <a:t> (in </a:t>
            </a:r>
            <a:r>
              <a:rPr lang="fi-FI" dirty="0" err="1"/>
              <a:t>phase</a:t>
            </a:r>
            <a:r>
              <a:rPr lang="fi-FI" dirty="0"/>
              <a:t> 2.)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Create</a:t>
            </a:r>
            <a:r>
              <a:rPr lang="fi-FI" dirty="0"/>
              <a:t> an </a:t>
            </a:r>
            <a:r>
              <a:rPr lang="fi-FI" dirty="0" err="1"/>
              <a:t>account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Find</a:t>
            </a:r>
            <a:r>
              <a:rPr lang="fi-FI" dirty="0"/>
              <a:t> </a:t>
            </a:r>
            <a:r>
              <a:rPr lang="fi-FI" dirty="0" err="1"/>
              <a:t>suitable</a:t>
            </a:r>
            <a:r>
              <a:rPr lang="fi-FI" dirty="0"/>
              <a:t> </a:t>
            </a:r>
            <a:r>
              <a:rPr lang="fi-FI" dirty="0" err="1"/>
              <a:t>comps</a:t>
            </a:r>
            <a:r>
              <a:rPr lang="fi-FI" dirty="0"/>
              <a:t> (</a:t>
            </a:r>
            <a:r>
              <a:rPr lang="fi-FI" dirty="0" err="1"/>
              <a:t>note</a:t>
            </a:r>
            <a:r>
              <a:rPr lang="fi-FI" dirty="0"/>
              <a:t> </a:t>
            </a:r>
            <a:r>
              <a:rPr lang="fi-FI" dirty="0" err="1"/>
              <a:t>availability</a:t>
            </a:r>
            <a:r>
              <a:rPr lang="fi-FI" dirty="0"/>
              <a:t>, status, </a:t>
            </a:r>
            <a:r>
              <a:rPr lang="fi-FI" dirty="0" err="1"/>
              <a:t>deliv</a:t>
            </a:r>
            <a:r>
              <a:rPr lang="fi-FI" dirty="0"/>
              <a:t>. </a:t>
            </a:r>
            <a:r>
              <a:rPr lang="fi-FI" dirty="0" err="1"/>
              <a:t>times</a:t>
            </a:r>
            <a:r>
              <a:rPr lang="fi-FI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Add</a:t>
            </a:r>
            <a:r>
              <a:rPr lang="fi-FI" dirty="0"/>
              <a:t> </a:t>
            </a:r>
            <a:r>
              <a:rPr lang="fi-FI" dirty="0" err="1"/>
              <a:t>components</a:t>
            </a:r>
            <a:r>
              <a:rPr lang="fi-FI" dirty="0"/>
              <a:t> into a </a:t>
            </a:r>
            <a:r>
              <a:rPr lang="fi-FI" dirty="0" err="1"/>
              <a:t>shopping</a:t>
            </a:r>
            <a:r>
              <a:rPr lang="fi-FI" dirty="0"/>
              <a:t> </a:t>
            </a:r>
            <a:r>
              <a:rPr lang="fi-FI" dirty="0" err="1"/>
              <a:t>cart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Send</a:t>
            </a:r>
            <a:r>
              <a:rPr lang="fi-FI" dirty="0"/>
              <a:t> a </a:t>
            </a:r>
            <a:r>
              <a:rPr lang="fi-FI" dirty="0" err="1"/>
              <a:t>shoppnig</a:t>
            </a:r>
            <a:r>
              <a:rPr lang="fi-FI" dirty="0"/>
              <a:t> </a:t>
            </a:r>
            <a:r>
              <a:rPr lang="fi-FI" dirty="0" err="1"/>
              <a:t>cart</a:t>
            </a:r>
            <a:r>
              <a:rPr lang="fi-FI" dirty="0"/>
              <a:t> </a:t>
            </a:r>
            <a:r>
              <a:rPr lang="fi-FI" dirty="0" err="1"/>
              <a:t>link</a:t>
            </a:r>
            <a:r>
              <a:rPr lang="fi-FI" dirty="0"/>
              <a:t> to </a:t>
            </a:r>
            <a:r>
              <a:rPr lang="fi-FI" dirty="0" err="1"/>
              <a:t>course</a:t>
            </a:r>
            <a:r>
              <a:rPr lang="fi-FI" dirty="0"/>
              <a:t> </a:t>
            </a:r>
            <a:r>
              <a:rPr lang="fi-FI" dirty="0" err="1"/>
              <a:t>staff</a:t>
            </a:r>
            <a:endParaRPr lang="fi-FI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EE69B4-BAEF-B113-78C8-2402A66E36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E7CBB1D-D17A-F361-EF79-A5CDD45F75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5E882283-6236-1153-7B38-C49250225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937256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E44A9-B902-0FA6-6114-EF70F75CA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26C260F-64D9-1644-277C-4A3C0CF94552}"/>
              </a:ext>
            </a:extLst>
          </p:cNvPr>
          <p:cNvSpPr txBox="1"/>
          <p:nvPr/>
        </p:nvSpPr>
        <p:spPr>
          <a:xfrm>
            <a:off x="878949" y="289225"/>
            <a:ext cx="73861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How to read electronic components’ datasheets (1)</a:t>
            </a:r>
            <a:endParaRPr lang="fi-FI" sz="2800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51A8F2-DEB8-518E-5D70-892E2AEE68B6}"/>
              </a:ext>
            </a:extLst>
          </p:cNvPr>
          <p:cNvSpPr txBox="1"/>
          <p:nvPr/>
        </p:nvSpPr>
        <p:spPr>
          <a:xfrm>
            <a:off x="1051230" y="1367624"/>
            <a:ext cx="7706853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Detailed</a:t>
            </a:r>
            <a:r>
              <a:rPr lang="fi-FI" dirty="0"/>
              <a:t> </a:t>
            </a:r>
            <a:r>
              <a:rPr lang="fi-FI" dirty="0" err="1"/>
              <a:t>information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About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component</a:t>
            </a:r>
            <a:r>
              <a:rPr lang="fi-FI" dirty="0"/>
              <a:t> in </a:t>
            </a:r>
            <a:r>
              <a:rPr lang="fi-FI" dirty="0" err="1"/>
              <a:t>question</a:t>
            </a:r>
            <a:r>
              <a:rPr lang="fi-FI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Performance, </a:t>
            </a:r>
            <a:r>
              <a:rPr lang="fi-FI" dirty="0" err="1"/>
              <a:t>capabilities</a:t>
            </a:r>
            <a:r>
              <a:rPr lang="fi-FI" dirty="0"/>
              <a:t>, </a:t>
            </a:r>
            <a:r>
              <a:rPr lang="fi-FI" dirty="0" err="1"/>
              <a:t>limits</a:t>
            </a:r>
            <a:r>
              <a:rPr lang="fi-FI" dirty="0"/>
              <a:t> vs. </a:t>
            </a:r>
            <a:r>
              <a:rPr lang="fi-FI" dirty="0" err="1"/>
              <a:t>operation</a:t>
            </a:r>
            <a:r>
              <a:rPr lang="fi-FI" dirty="0"/>
              <a:t> </a:t>
            </a:r>
            <a:r>
              <a:rPr lang="fi-FI" dirty="0" err="1"/>
              <a:t>environment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Physical</a:t>
            </a:r>
            <a:r>
              <a:rPr lang="fi-FI" dirty="0"/>
              <a:t> </a:t>
            </a:r>
            <a:r>
              <a:rPr lang="fi-FI" dirty="0" err="1"/>
              <a:t>characteristics</a:t>
            </a:r>
            <a:r>
              <a:rPr lang="fi-FI" dirty="0"/>
              <a:t>, </a:t>
            </a:r>
            <a:r>
              <a:rPr lang="fi-FI" dirty="0" err="1"/>
              <a:t>pins</a:t>
            </a:r>
            <a:r>
              <a:rPr lang="fi-FI" dirty="0"/>
              <a:t>, </a:t>
            </a:r>
            <a:r>
              <a:rPr lang="fi-FI" dirty="0" err="1"/>
              <a:t>packages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How to </a:t>
            </a:r>
            <a:r>
              <a:rPr lang="fi-FI" dirty="0" err="1"/>
              <a:t>use</a:t>
            </a:r>
            <a:r>
              <a:rPr lang="fi-FI" dirty="0"/>
              <a:t> it </a:t>
            </a:r>
            <a:r>
              <a:rPr lang="fi-FI" dirty="0" err="1"/>
              <a:t>properly</a:t>
            </a:r>
            <a:r>
              <a:rPr lang="fi-FI" dirty="0"/>
              <a:t> (</a:t>
            </a:r>
            <a:r>
              <a:rPr lang="fi-FI" dirty="0" err="1"/>
              <a:t>effectively</a:t>
            </a:r>
            <a:r>
              <a:rPr lang="fi-FI" dirty="0"/>
              <a:t>, </a:t>
            </a:r>
            <a:r>
              <a:rPr lang="fi-FI" dirty="0" err="1"/>
              <a:t>safely</a:t>
            </a:r>
            <a:r>
              <a:rPr lang="fi-FI" dirty="0"/>
              <a:t>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Typical</a:t>
            </a:r>
            <a:r>
              <a:rPr lang="fi-FI" dirty="0"/>
              <a:t> </a:t>
            </a:r>
            <a:r>
              <a:rPr lang="fi-FI" dirty="0" err="1"/>
              <a:t>applications</a:t>
            </a:r>
            <a:r>
              <a:rPr lang="fi-FI" dirty="0"/>
              <a:t>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Used</a:t>
            </a:r>
            <a:r>
              <a:rPr lang="fi-FI" dirty="0"/>
              <a:t> to </a:t>
            </a:r>
            <a:r>
              <a:rPr lang="fi-FI" dirty="0" err="1"/>
              <a:t>verify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characteristics</a:t>
            </a:r>
            <a:r>
              <a:rPr lang="fi-FI" dirty="0"/>
              <a:t> </a:t>
            </a:r>
            <a:r>
              <a:rPr lang="fi-FI" dirty="0" err="1"/>
              <a:t>meet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Power </a:t>
            </a:r>
            <a:r>
              <a:rPr lang="fi-FI" dirty="0" err="1"/>
              <a:t>supply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Accuracy</a:t>
            </a:r>
            <a:r>
              <a:rPr lang="fi-FI" dirty="0"/>
              <a:t>, </a:t>
            </a:r>
            <a:r>
              <a:rPr lang="fi-FI" dirty="0" err="1"/>
              <a:t>precision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Response</a:t>
            </a:r>
            <a:r>
              <a:rPr lang="fi-FI" dirty="0"/>
              <a:t> </a:t>
            </a:r>
            <a:r>
              <a:rPr lang="fi-FI" dirty="0" err="1"/>
              <a:t>speed</a:t>
            </a:r>
            <a:r>
              <a:rPr lang="fi-FI" dirty="0"/>
              <a:t>, data </a:t>
            </a:r>
            <a:r>
              <a:rPr lang="fi-FI" dirty="0" err="1"/>
              <a:t>rate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Communication</a:t>
            </a:r>
            <a:r>
              <a:rPr lang="fi-FI" dirty="0"/>
              <a:t> and </a:t>
            </a:r>
            <a:r>
              <a:rPr lang="fi-FI" dirty="0" err="1"/>
              <a:t>interfacing</a:t>
            </a:r>
            <a:r>
              <a:rPr lang="fi-FI" dirty="0"/>
              <a:t> </a:t>
            </a:r>
            <a:r>
              <a:rPr lang="fi-FI" dirty="0" err="1"/>
              <a:t>capabilities</a:t>
            </a:r>
            <a:r>
              <a:rPr lang="fi-FI" dirty="0"/>
              <a:t> and </a:t>
            </a:r>
            <a:r>
              <a:rPr lang="fi-FI" dirty="0" err="1"/>
              <a:t>protocols</a:t>
            </a:r>
            <a:r>
              <a:rPr lang="fi-FI" dirty="0"/>
              <a:t>.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Power </a:t>
            </a:r>
            <a:r>
              <a:rPr lang="fi-FI" dirty="0" err="1"/>
              <a:t>consumption</a:t>
            </a:r>
            <a:r>
              <a:rPr lang="fi-FI" dirty="0"/>
              <a:t>/ </a:t>
            </a:r>
            <a:r>
              <a:rPr lang="fi-FI" dirty="0" err="1"/>
              <a:t>dissipation</a:t>
            </a:r>
            <a:r>
              <a:rPr lang="fi-FI" dirty="0"/>
              <a:t> (</a:t>
            </a:r>
            <a:r>
              <a:rPr lang="fi-FI" dirty="0" err="1"/>
              <a:t>battery</a:t>
            </a:r>
            <a:r>
              <a:rPr lang="fi-FI" dirty="0"/>
              <a:t> </a:t>
            </a:r>
            <a:r>
              <a:rPr lang="fi-FI" dirty="0" err="1"/>
              <a:t>powered</a:t>
            </a:r>
            <a:r>
              <a:rPr lang="fi-FI" dirty="0"/>
              <a:t> </a:t>
            </a:r>
            <a:r>
              <a:rPr lang="fi-FI" dirty="0" err="1"/>
              <a:t>applications</a:t>
            </a:r>
            <a:r>
              <a:rPr lang="fi-FI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Package</a:t>
            </a:r>
            <a:r>
              <a:rPr lang="fi-FI" dirty="0"/>
              <a:t>/ </a:t>
            </a:r>
            <a:r>
              <a:rPr lang="fi-FI" dirty="0" err="1"/>
              <a:t>physical</a:t>
            </a:r>
            <a:r>
              <a:rPr lang="fi-FI" dirty="0"/>
              <a:t> </a:t>
            </a:r>
            <a:r>
              <a:rPr lang="fi-FI" dirty="0" err="1"/>
              <a:t>constraints</a:t>
            </a:r>
            <a:r>
              <a:rPr lang="fi-FI" dirty="0"/>
              <a:t>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Large</a:t>
            </a:r>
            <a:r>
              <a:rPr lang="fi-FI" dirty="0"/>
              <a:t> </a:t>
            </a:r>
            <a:r>
              <a:rPr lang="fi-FI" dirty="0" err="1"/>
              <a:t>quantity</a:t>
            </a:r>
            <a:r>
              <a:rPr lang="fi-FI" dirty="0"/>
              <a:t> of </a:t>
            </a:r>
            <a:r>
              <a:rPr lang="fi-FI" dirty="0" err="1"/>
              <a:t>information</a:t>
            </a:r>
            <a:r>
              <a:rPr lang="fi-FI" dirty="0"/>
              <a:t>, some of it is </a:t>
            </a:r>
            <a:r>
              <a:rPr lang="fi-FI" dirty="0" err="1"/>
              <a:t>more</a:t>
            </a:r>
            <a:r>
              <a:rPr lang="fi-FI" dirty="0"/>
              <a:t> and some </a:t>
            </a:r>
            <a:r>
              <a:rPr lang="fi-FI" dirty="0" err="1"/>
              <a:t>less</a:t>
            </a:r>
            <a:r>
              <a:rPr lang="fi-FI" dirty="0"/>
              <a:t> </a:t>
            </a:r>
            <a:r>
              <a:rPr lang="fi-FI" dirty="0" err="1"/>
              <a:t>important</a:t>
            </a:r>
            <a:endParaRPr lang="fi-FI" dirty="0"/>
          </a:p>
          <a:p>
            <a:r>
              <a:rPr lang="fi-FI" dirty="0"/>
              <a:t>to </a:t>
            </a:r>
            <a:r>
              <a:rPr lang="fi-FI" dirty="0" err="1"/>
              <a:t>you</a:t>
            </a:r>
            <a:r>
              <a:rPr lang="fi-FI" dirty="0"/>
              <a:t> and </a:t>
            </a:r>
            <a:r>
              <a:rPr lang="fi-FI" dirty="0" err="1"/>
              <a:t>your</a:t>
            </a:r>
            <a:r>
              <a:rPr lang="fi-FI" dirty="0"/>
              <a:t> </a:t>
            </a:r>
            <a:r>
              <a:rPr lang="fi-FI" dirty="0" err="1"/>
              <a:t>application</a:t>
            </a: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Learn</a:t>
            </a:r>
            <a:r>
              <a:rPr lang="fi-FI" dirty="0"/>
              <a:t> to </a:t>
            </a:r>
            <a:r>
              <a:rPr lang="fi-FI" dirty="0" err="1"/>
              <a:t>identify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key</a:t>
            </a:r>
            <a:r>
              <a:rPr lang="fi-FI" dirty="0"/>
              <a:t> </a:t>
            </a:r>
            <a:r>
              <a:rPr lang="fi-FI" dirty="0" err="1"/>
              <a:t>characteristics</a:t>
            </a:r>
            <a:r>
              <a:rPr lang="fi-FI" dirty="0"/>
              <a:t> to </a:t>
            </a:r>
            <a:r>
              <a:rPr lang="fi-FI" dirty="0" err="1"/>
              <a:t>your</a:t>
            </a:r>
            <a:r>
              <a:rPr lang="fi-FI" dirty="0"/>
              <a:t> </a:t>
            </a:r>
            <a:r>
              <a:rPr lang="fi-FI" dirty="0" err="1"/>
              <a:t>application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Search</a:t>
            </a:r>
            <a:r>
              <a:rPr lang="fi-FI" dirty="0"/>
              <a:t> for </a:t>
            </a:r>
            <a:r>
              <a:rPr lang="fi-FI" dirty="0" err="1"/>
              <a:t>component</a:t>
            </a:r>
            <a:r>
              <a:rPr lang="fi-FI" dirty="0"/>
              <a:t> </a:t>
            </a:r>
            <a:r>
              <a:rPr lang="fi-FI" dirty="0" err="1"/>
              <a:t>specific</a:t>
            </a:r>
            <a:r>
              <a:rPr lang="fi-FI" dirty="0"/>
              <a:t> </a:t>
            </a:r>
            <a:r>
              <a:rPr lang="fi-FI" dirty="0" err="1"/>
              <a:t>tutorials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Web </a:t>
            </a:r>
            <a:r>
              <a:rPr lang="fi-FI" dirty="0" err="1"/>
              <a:t>search</a:t>
            </a:r>
            <a:r>
              <a:rPr lang="fi-FI" dirty="0"/>
              <a:t> tip: ”</a:t>
            </a:r>
            <a:r>
              <a:rPr lang="fi-FI" dirty="0" err="1"/>
              <a:t>how</a:t>
            </a:r>
            <a:r>
              <a:rPr lang="fi-FI" dirty="0"/>
              <a:t> to </a:t>
            </a:r>
            <a:r>
              <a:rPr lang="fi-FI" dirty="0" err="1"/>
              <a:t>read</a:t>
            </a:r>
            <a:r>
              <a:rPr lang="fi-FI" dirty="0"/>
              <a:t> </a:t>
            </a:r>
            <a:r>
              <a:rPr lang="fi-FI" dirty="0" err="1"/>
              <a:t>linear</a:t>
            </a:r>
            <a:r>
              <a:rPr lang="fi-FI" dirty="0"/>
              <a:t> </a:t>
            </a:r>
            <a:r>
              <a:rPr lang="fi-FI" dirty="0" err="1"/>
              <a:t>regulator</a:t>
            </a:r>
            <a:r>
              <a:rPr lang="fi-FI" dirty="0"/>
              <a:t> </a:t>
            </a:r>
            <a:r>
              <a:rPr lang="fi-FI" dirty="0" err="1"/>
              <a:t>datasheets</a:t>
            </a:r>
            <a:r>
              <a:rPr lang="fi-FI" dirty="0"/>
              <a:t>” e.g.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C06351-904F-9069-FDBF-D9C0E89677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040F8DA5-3F84-2A07-1A73-A0B6B8A6A8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E5EA277C-514C-A379-ED74-EE2F2AC8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859568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F9C38-1B48-EB49-A85F-B4D5E61D7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648CDED-2FF1-C7FE-2BB3-C2FA3A46BC73}"/>
              </a:ext>
            </a:extLst>
          </p:cNvPr>
          <p:cNvSpPr txBox="1"/>
          <p:nvPr/>
        </p:nvSpPr>
        <p:spPr>
          <a:xfrm>
            <a:off x="878949" y="289225"/>
            <a:ext cx="73861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How to read electronic components’ datasheets (2)</a:t>
            </a:r>
            <a:endParaRPr lang="fi-FI" sz="2800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BB3D68-F477-8283-B4B0-236DF3B5D2CB}"/>
              </a:ext>
            </a:extLst>
          </p:cNvPr>
          <p:cNvSpPr txBox="1"/>
          <p:nvPr/>
        </p:nvSpPr>
        <p:spPr>
          <a:xfrm>
            <a:off x="1051230" y="1367624"/>
            <a:ext cx="789273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Typical</a:t>
            </a:r>
            <a:r>
              <a:rPr lang="fi-FI" dirty="0"/>
              <a:t> </a:t>
            </a:r>
            <a:r>
              <a:rPr lang="fi-FI" dirty="0" err="1"/>
              <a:t>key</a:t>
            </a:r>
            <a:r>
              <a:rPr lang="fi-FI" dirty="0"/>
              <a:t> </a:t>
            </a:r>
            <a:r>
              <a:rPr lang="fi-FI" dirty="0" err="1"/>
              <a:t>parameters</a:t>
            </a:r>
            <a:r>
              <a:rPr lang="fi-FI" dirty="0"/>
              <a:t> to </a:t>
            </a:r>
            <a:r>
              <a:rPr lang="fi-FI" dirty="0" err="1"/>
              <a:t>verify</a:t>
            </a:r>
            <a:r>
              <a:rPr lang="fi-FI" dirty="0"/>
              <a:t> (</a:t>
            </a:r>
            <a:r>
              <a:rPr lang="fi-FI" dirty="0" err="1"/>
              <a:t>component</a:t>
            </a:r>
            <a:r>
              <a:rPr lang="fi-FI" dirty="0"/>
              <a:t> </a:t>
            </a:r>
            <a:r>
              <a:rPr lang="fi-FI" dirty="0" err="1"/>
              <a:t>specific</a:t>
            </a:r>
            <a:r>
              <a:rPr lang="fi-FI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Absolute</a:t>
            </a:r>
            <a:r>
              <a:rPr lang="fi-FI" dirty="0"/>
              <a:t> </a:t>
            </a:r>
            <a:r>
              <a:rPr lang="fi-FI" dirty="0" err="1"/>
              <a:t>maximum</a:t>
            </a:r>
            <a:r>
              <a:rPr lang="fi-FI" dirty="0"/>
              <a:t> </a:t>
            </a:r>
            <a:r>
              <a:rPr lang="fi-FI" dirty="0" err="1"/>
              <a:t>values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Performance </a:t>
            </a:r>
            <a:r>
              <a:rPr lang="fi-FI" dirty="0" err="1"/>
              <a:t>parameters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Power </a:t>
            </a:r>
            <a:r>
              <a:rPr lang="fi-FI" dirty="0" err="1"/>
              <a:t>consumption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Timing</a:t>
            </a:r>
            <a:r>
              <a:rPr lang="fi-FI" dirty="0"/>
              <a:t> </a:t>
            </a:r>
            <a:r>
              <a:rPr lang="fi-FI" dirty="0" err="1"/>
              <a:t>constraints</a:t>
            </a:r>
            <a:r>
              <a:rPr lang="fi-FI" dirty="0"/>
              <a:t> (</a:t>
            </a:r>
            <a:r>
              <a:rPr lang="fi-FI" dirty="0" err="1"/>
              <a:t>delays</a:t>
            </a:r>
            <a:r>
              <a:rPr lang="fi-FI" dirty="0"/>
              <a:t>, </a:t>
            </a:r>
            <a:r>
              <a:rPr lang="fi-FI" dirty="0" err="1"/>
              <a:t>sampling</a:t>
            </a:r>
            <a:r>
              <a:rPr lang="fi-FI" dirty="0"/>
              <a:t> and </a:t>
            </a:r>
            <a:r>
              <a:rPr lang="fi-FI" dirty="0" err="1"/>
              <a:t>settling</a:t>
            </a:r>
            <a:r>
              <a:rPr lang="fi-FI" dirty="0"/>
              <a:t> </a:t>
            </a:r>
            <a:r>
              <a:rPr lang="fi-FI" dirty="0" err="1"/>
              <a:t>times</a:t>
            </a:r>
            <a:r>
              <a:rPr lang="fi-FI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Time </a:t>
            </a:r>
            <a:r>
              <a:rPr lang="fi-FI" dirty="0" err="1"/>
              <a:t>requirement</a:t>
            </a:r>
            <a:r>
              <a:rPr lang="fi-FI" dirty="0"/>
              <a:t> for </a:t>
            </a:r>
            <a:r>
              <a:rPr lang="fi-FI" dirty="0" err="1"/>
              <a:t>measurement</a:t>
            </a:r>
            <a:r>
              <a:rPr lang="fi-FI" dirty="0"/>
              <a:t>, data </a:t>
            </a:r>
            <a:r>
              <a:rPr lang="fi-FI" dirty="0" err="1"/>
              <a:t>transfer</a:t>
            </a:r>
            <a:r>
              <a:rPr lang="fi-FI" dirty="0"/>
              <a:t> and data </a:t>
            </a:r>
            <a:r>
              <a:rPr lang="fi-FI" dirty="0" err="1"/>
              <a:t>processing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Environmental</a:t>
            </a:r>
            <a:r>
              <a:rPr lang="fi-FI" dirty="0"/>
              <a:t> </a:t>
            </a:r>
            <a:r>
              <a:rPr lang="fi-FI" dirty="0" err="1"/>
              <a:t>requirements</a:t>
            </a:r>
            <a:r>
              <a:rPr lang="fi-FI" dirty="0"/>
              <a:t> for </a:t>
            </a:r>
            <a:r>
              <a:rPr lang="fi-FI" dirty="0" err="1"/>
              <a:t>proper</a:t>
            </a:r>
            <a:r>
              <a:rPr lang="fi-FI" dirty="0"/>
              <a:t> </a:t>
            </a:r>
            <a:r>
              <a:rPr lang="fi-FI" dirty="0" err="1"/>
              <a:t>operation</a:t>
            </a:r>
            <a:r>
              <a:rPr lang="fi-FI" dirty="0"/>
              <a:t> etc.</a:t>
            </a:r>
          </a:p>
          <a:p>
            <a:pPr lvl="1"/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Example</a:t>
            </a:r>
            <a:r>
              <a:rPr lang="fi-FI" dirty="0"/>
              <a:t> of a </a:t>
            </a:r>
            <a:r>
              <a:rPr lang="fi-FI" dirty="0" err="1"/>
              <a:t>datasheets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LDO (</a:t>
            </a:r>
            <a:r>
              <a:rPr lang="fi-FI" dirty="0" err="1"/>
              <a:t>low-dropout</a:t>
            </a:r>
            <a:r>
              <a:rPr lang="fi-FI" dirty="0"/>
              <a:t>) </a:t>
            </a:r>
            <a:r>
              <a:rPr lang="fi-FI" dirty="0" err="1"/>
              <a:t>voltage</a:t>
            </a:r>
            <a:r>
              <a:rPr lang="fi-FI" dirty="0"/>
              <a:t> </a:t>
            </a:r>
            <a:r>
              <a:rPr lang="fi-FI" dirty="0" err="1"/>
              <a:t>regulator</a:t>
            </a:r>
            <a:r>
              <a:rPr lang="fi-FI" dirty="0"/>
              <a:t>, MCP1700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/>
              <a:t>MEMS (</a:t>
            </a:r>
            <a:r>
              <a:rPr lang="fi-FI" dirty="0" err="1"/>
              <a:t>micro-electro-mechanical</a:t>
            </a:r>
            <a:r>
              <a:rPr lang="fi-FI" dirty="0"/>
              <a:t> </a:t>
            </a:r>
            <a:r>
              <a:rPr lang="fi-FI" dirty="0" err="1"/>
              <a:t>sys</a:t>
            </a:r>
            <a:r>
              <a:rPr lang="fi-FI" dirty="0"/>
              <a:t>.) </a:t>
            </a:r>
            <a:r>
              <a:rPr lang="fi-FI" dirty="0" err="1"/>
              <a:t>motion</a:t>
            </a:r>
            <a:r>
              <a:rPr lang="fi-FI" dirty="0"/>
              <a:t> </a:t>
            </a:r>
            <a:r>
              <a:rPr lang="fi-FI" dirty="0" err="1"/>
              <a:t>sensor</a:t>
            </a:r>
            <a:r>
              <a:rPr lang="fi-FI" dirty="0"/>
              <a:t>, MPU6050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C3102B-DCD7-C005-4033-971B345AC7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0F73445C-A57E-5EF7-D1CF-9BA56A66D6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A0E3B7DB-F909-87E4-16C7-79224714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46653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C6FEA8-8148-E923-EE88-B27B8CCCF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096" y="0"/>
            <a:ext cx="5391807" cy="6858000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2C733143-32D2-33F8-C2D0-0288377C8E34}"/>
              </a:ext>
            </a:extLst>
          </p:cNvPr>
          <p:cNvSpPr/>
          <p:nvPr/>
        </p:nvSpPr>
        <p:spPr>
          <a:xfrm>
            <a:off x="1804988" y="1843087"/>
            <a:ext cx="114300" cy="51435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856DF3E9-758D-5A03-309C-DC4F768B83B8}"/>
              </a:ext>
            </a:extLst>
          </p:cNvPr>
          <p:cNvSpPr/>
          <p:nvPr/>
        </p:nvSpPr>
        <p:spPr>
          <a:xfrm>
            <a:off x="1804988" y="1543050"/>
            <a:ext cx="114300" cy="26670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4470D70-5FE1-F4C6-3F64-8E9A7152B1A2}"/>
              </a:ext>
            </a:extLst>
          </p:cNvPr>
          <p:cNvSpPr/>
          <p:nvPr/>
        </p:nvSpPr>
        <p:spPr>
          <a:xfrm>
            <a:off x="1862138" y="3876675"/>
            <a:ext cx="114300" cy="26670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FE05CC7C-75C5-75C6-8B38-06D88DD121B6}"/>
              </a:ext>
            </a:extLst>
          </p:cNvPr>
          <p:cNvSpPr/>
          <p:nvPr/>
        </p:nvSpPr>
        <p:spPr>
          <a:xfrm>
            <a:off x="1862138" y="4176709"/>
            <a:ext cx="114300" cy="26670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111E3BF0-FEDD-679B-F8C4-719A7FB5CA0D}"/>
              </a:ext>
            </a:extLst>
          </p:cNvPr>
          <p:cNvSpPr/>
          <p:nvPr/>
        </p:nvSpPr>
        <p:spPr>
          <a:xfrm>
            <a:off x="1804988" y="2390769"/>
            <a:ext cx="114300" cy="26670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3F533B-6234-B584-2FB5-5334B26E6CF2}"/>
              </a:ext>
            </a:extLst>
          </p:cNvPr>
          <p:cNvSpPr txBox="1"/>
          <p:nvPr/>
        </p:nvSpPr>
        <p:spPr>
          <a:xfrm>
            <a:off x="1201947" y="1547646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 err="1">
                <a:solidFill>
                  <a:srgbClr val="FF0000"/>
                </a:solidFill>
              </a:rPr>
              <a:t>Voltages</a:t>
            </a:r>
            <a:endParaRPr lang="fi-FI" sz="10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348C04-985F-2C98-7228-A4C8544D5727}"/>
              </a:ext>
            </a:extLst>
          </p:cNvPr>
          <p:cNvSpPr txBox="1"/>
          <p:nvPr/>
        </p:nvSpPr>
        <p:spPr>
          <a:xfrm>
            <a:off x="1240419" y="190332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>
                <a:solidFill>
                  <a:srgbClr val="FF0000"/>
                </a:solidFill>
              </a:rPr>
              <a:t>Output</a:t>
            </a:r>
          </a:p>
          <a:p>
            <a:r>
              <a:rPr lang="fi-FI" sz="1000" dirty="0" err="1">
                <a:solidFill>
                  <a:srgbClr val="FF0000"/>
                </a:solidFill>
              </a:rPr>
              <a:t>current</a:t>
            </a:r>
            <a:endParaRPr lang="fi-FI" sz="10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A92D96-A48C-EEF6-F8EF-CB1FCF4F2BC6}"/>
              </a:ext>
            </a:extLst>
          </p:cNvPr>
          <p:cNvSpPr txBox="1"/>
          <p:nvPr/>
        </p:nvSpPr>
        <p:spPr>
          <a:xfrm>
            <a:off x="1048421" y="3800420"/>
            <a:ext cx="8739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 err="1">
                <a:solidFill>
                  <a:srgbClr val="FF0000"/>
                </a:solidFill>
              </a:rPr>
              <a:t>Portable</a:t>
            </a:r>
            <a:endParaRPr lang="fi-FI" sz="1000" dirty="0">
              <a:solidFill>
                <a:srgbClr val="FF0000"/>
              </a:solidFill>
            </a:endParaRPr>
          </a:p>
          <a:p>
            <a:r>
              <a:rPr lang="fi-FI" sz="1000" dirty="0" err="1">
                <a:solidFill>
                  <a:srgbClr val="FF0000"/>
                </a:solidFill>
              </a:rPr>
              <a:t>applications</a:t>
            </a:r>
            <a:endParaRPr lang="fi-FI" sz="10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3C0EDE-F16C-1FE5-6EBE-34CF7C39243D}"/>
              </a:ext>
            </a:extLst>
          </p:cNvPr>
          <p:cNvSpPr txBox="1"/>
          <p:nvPr/>
        </p:nvSpPr>
        <p:spPr>
          <a:xfrm>
            <a:off x="1080676" y="4143377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 err="1">
                <a:solidFill>
                  <a:srgbClr val="FF0000"/>
                </a:solidFill>
              </a:rPr>
              <a:t>Detector</a:t>
            </a:r>
            <a:r>
              <a:rPr lang="fi-FI" sz="1000" dirty="0">
                <a:solidFill>
                  <a:srgbClr val="FF0000"/>
                </a:solidFill>
              </a:rPr>
              <a:t>,</a:t>
            </a:r>
          </a:p>
          <a:p>
            <a:r>
              <a:rPr lang="fi-FI" sz="1000" dirty="0" err="1">
                <a:solidFill>
                  <a:srgbClr val="FF0000"/>
                </a:solidFill>
              </a:rPr>
              <a:t>sensors</a:t>
            </a:r>
            <a:endParaRPr lang="fi-FI" sz="10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5ABDD7-A087-B9CF-4F43-6C03C36DB8F1}"/>
              </a:ext>
            </a:extLst>
          </p:cNvPr>
          <p:cNvSpPr txBox="1"/>
          <p:nvPr/>
        </p:nvSpPr>
        <p:spPr>
          <a:xfrm>
            <a:off x="1040044" y="5643513"/>
            <a:ext cx="8290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 err="1">
                <a:solidFill>
                  <a:srgbClr val="FF0000"/>
                </a:solidFill>
              </a:rPr>
              <a:t>Additional</a:t>
            </a:r>
            <a:endParaRPr lang="fi-FI" sz="1000" dirty="0">
              <a:solidFill>
                <a:srgbClr val="FF0000"/>
              </a:solidFill>
            </a:endParaRPr>
          </a:p>
          <a:p>
            <a:r>
              <a:rPr lang="fi-FI" sz="1000" dirty="0" err="1">
                <a:solidFill>
                  <a:srgbClr val="FF0000"/>
                </a:solidFill>
              </a:rPr>
              <a:t>information</a:t>
            </a:r>
            <a:endParaRPr lang="fi-FI" sz="10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5FFDD7-B175-EBA9-F01C-33A002EBAEEE}"/>
              </a:ext>
            </a:extLst>
          </p:cNvPr>
          <p:cNvSpPr txBox="1"/>
          <p:nvPr/>
        </p:nvSpPr>
        <p:spPr>
          <a:xfrm>
            <a:off x="7315571" y="4054774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 err="1">
                <a:solidFill>
                  <a:srgbClr val="FF0000"/>
                </a:solidFill>
              </a:rPr>
              <a:t>Package</a:t>
            </a:r>
            <a:endParaRPr lang="fi-FI" sz="1000" dirty="0">
              <a:solidFill>
                <a:srgbClr val="FF0000"/>
              </a:solidFill>
            </a:endParaRPr>
          </a:p>
          <a:p>
            <a:r>
              <a:rPr lang="fi-FI" sz="1000" dirty="0" err="1">
                <a:solidFill>
                  <a:srgbClr val="FF0000"/>
                </a:solidFill>
              </a:rPr>
              <a:t>options</a:t>
            </a:r>
            <a:endParaRPr lang="fi-FI" sz="10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9F7FE9-4AF4-62C4-B852-EF7B5529883B}"/>
              </a:ext>
            </a:extLst>
          </p:cNvPr>
          <p:cNvSpPr txBox="1"/>
          <p:nvPr/>
        </p:nvSpPr>
        <p:spPr>
          <a:xfrm>
            <a:off x="7317151" y="2524120"/>
            <a:ext cx="941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 err="1">
                <a:solidFill>
                  <a:srgbClr val="FF0000"/>
                </a:solidFill>
              </a:rPr>
              <a:t>Operation</a:t>
            </a:r>
            <a:endParaRPr lang="fi-FI" sz="1000" dirty="0">
              <a:solidFill>
                <a:srgbClr val="FF0000"/>
              </a:solidFill>
            </a:endParaRPr>
          </a:p>
          <a:p>
            <a:r>
              <a:rPr lang="fi-FI" sz="1000" dirty="0" err="1">
                <a:solidFill>
                  <a:srgbClr val="FF0000"/>
                </a:solidFill>
              </a:rPr>
              <a:t>temperatures</a:t>
            </a:r>
            <a:endParaRPr lang="fi-FI" sz="10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0D0865-9332-4FDB-1F44-EABCCA28A398}"/>
              </a:ext>
            </a:extLst>
          </p:cNvPr>
          <p:cNvSpPr txBox="1"/>
          <p:nvPr/>
        </p:nvSpPr>
        <p:spPr>
          <a:xfrm>
            <a:off x="7313354" y="1193521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>
                <a:solidFill>
                  <a:srgbClr val="FF0000"/>
                </a:solidFill>
              </a:rPr>
              <a:t>General</a:t>
            </a:r>
          </a:p>
          <a:p>
            <a:r>
              <a:rPr lang="fi-FI" sz="1000" dirty="0" err="1">
                <a:solidFill>
                  <a:srgbClr val="FF0000"/>
                </a:solidFill>
              </a:rPr>
              <a:t>description</a:t>
            </a:r>
            <a:endParaRPr lang="fi-FI" sz="100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13E399-643A-A6AE-7431-4E98973CE374}"/>
              </a:ext>
            </a:extLst>
          </p:cNvPr>
          <p:cNvSpPr txBox="1"/>
          <p:nvPr/>
        </p:nvSpPr>
        <p:spPr>
          <a:xfrm>
            <a:off x="7313354" y="1670756"/>
            <a:ext cx="8803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>
                <a:solidFill>
                  <a:srgbClr val="FF0000"/>
                </a:solidFill>
              </a:rPr>
              <a:t>Applications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DCD9D7-48D1-248D-A942-4AE2E7451888}"/>
              </a:ext>
            </a:extLst>
          </p:cNvPr>
          <p:cNvSpPr txBox="1"/>
          <p:nvPr/>
        </p:nvSpPr>
        <p:spPr>
          <a:xfrm>
            <a:off x="7313354" y="2144548"/>
            <a:ext cx="904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>
                <a:solidFill>
                  <a:srgbClr val="FF0000"/>
                </a:solidFill>
              </a:rPr>
              <a:t>Performance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EC0086-EAE7-374E-6964-AF70343D6C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D18BFB4E-0338-D9C0-E3A6-56606D79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2A052552-863E-B7D3-FC70-AB717522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356058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414663-1C38-81C2-8FBD-8C21B4489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700" y="205740"/>
            <a:ext cx="2667053" cy="34008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13D2D52-42AB-2BB4-5FA7-107E8D8BA4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2144E7-0DAD-EFE3-EF13-8AB32F940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05740"/>
            <a:ext cx="3229425" cy="19576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50CF13-B235-6EF4-6C14-D15F3D4EA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516517"/>
            <a:ext cx="4716780" cy="155929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3A7C020-8AE6-6612-8755-6A1689A4D686}"/>
              </a:ext>
            </a:extLst>
          </p:cNvPr>
          <p:cNvGrpSpPr/>
          <p:nvPr/>
        </p:nvGrpSpPr>
        <p:grpSpPr>
          <a:xfrm>
            <a:off x="320040" y="2453622"/>
            <a:ext cx="5250180" cy="1684038"/>
            <a:chOff x="320040" y="4968222"/>
            <a:chExt cx="5250180" cy="16840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F8E905E-B765-4875-95E2-34F0C23DC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0040" y="5216749"/>
              <a:ext cx="5250180" cy="143551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D57B812-3584-B903-3B22-FF3F28000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0040" y="4968222"/>
              <a:ext cx="1493802" cy="151494"/>
            </a:xfrm>
            <a:prstGeom prst="rect">
              <a:avLst/>
            </a:prstGeom>
          </p:spPr>
        </p:pic>
      </p:grp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030A002-08BB-F984-8DCB-47CB37B92E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DD390B53-252E-5226-2D6D-0E311438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595355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2768C9-D950-8FC5-2FC9-724BD3994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80" y="457821"/>
            <a:ext cx="2166777" cy="421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7E127F-30C9-7E9A-EDAF-D786978B6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80" y="1761073"/>
            <a:ext cx="4786685" cy="19870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9EBEBF-C19B-5797-A432-0807B5B0E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80" y="3928423"/>
            <a:ext cx="5223347" cy="24389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49CC01-AE53-CECB-525B-568CDFDE1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80" y="1029613"/>
            <a:ext cx="6417764" cy="634012"/>
          </a:xfrm>
          <a:prstGeom prst="rect">
            <a:avLst/>
          </a:prstGeom>
        </p:spPr>
      </p:pic>
      <p:sp>
        <p:nvSpPr>
          <p:cNvPr id="16" name="Left Brace 15">
            <a:extLst>
              <a:ext uri="{FF2B5EF4-FFF2-40B4-BE49-F238E27FC236}">
                <a16:creationId xmlns:a16="http://schemas.microsoft.com/office/drawing/2014/main" id="{8DC29817-25EE-CA05-5830-40278059CBE3}"/>
              </a:ext>
            </a:extLst>
          </p:cNvPr>
          <p:cNvSpPr/>
          <p:nvPr/>
        </p:nvSpPr>
        <p:spPr>
          <a:xfrm>
            <a:off x="686208" y="2886572"/>
            <a:ext cx="191460" cy="86157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683F3F05-C9B4-5DE8-26B5-73D43EB9C5FB}"/>
              </a:ext>
            </a:extLst>
          </p:cNvPr>
          <p:cNvSpPr/>
          <p:nvPr/>
        </p:nvSpPr>
        <p:spPr>
          <a:xfrm>
            <a:off x="522980" y="4358890"/>
            <a:ext cx="191460" cy="729946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413705-6CAF-8E64-EE4B-6A2FA40B8A8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9BA9F70-657B-6FDE-D055-C6F8E6CDAB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1DD48DFF-A81E-6306-9DFD-C66A36AA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055298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CB9FD81-79F4-CAE6-0CFF-8E73BB95C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98" y="344572"/>
            <a:ext cx="5847653" cy="3771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DE824E-5767-CCD9-F65F-76CC473A6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66" y="4866303"/>
            <a:ext cx="5655878" cy="15663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5F8BAF-C07E-80A1-439C-7BFA98D121DE}"/>
              </a:ext>
            </a:extLst>
          </p:cNvPr>
          <p:cNvSpPr txBox="1"/>
          <p:nvPr/>
        </p:nvSpPr>
        <p:spPr>
          <a:xfrm>
            <a:off x="686658" y="4496971"/>
            <a:ext cx="4478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 err="1"/>
              <a:t>Comparison</a:t>
            </a:r>
            <a:r>
              <a:rPr lang="fi-FI" dirty="0"/>
              <a:t> </a:t>
            </a:r>
            <a:r>
              <a:rPr lang="fi-FI" dirty="0" err="1"/>
              <a:t>between</a:t>
            </a:r>
            <a:r>
              <a:rPr lang="fi-FI" dirty="0"/>
              <a:t> </a:t>
            </a:r>
            <a:r>
              <a:rPr lang="fi-FI" dirty="0" err="1"/>
              <a:t>two</a:t>
            </a:r>
            <a:r>
              <a:rPr lang="fi-FI" dirty="0"/>
              <a:t> </a:t>
            </a:r>
            <a:r>
              <a:rPr lang="fi-FI" dirty="0" err="1"/>
              <a:t>models</a:t>
            </a:r>
            <a:r>
              <a:rPr lang="fi-FI" dirty="0"/>
              <a:t> </a:t>
            </a:r>
            <a:r>
              <a:rPr lang="fi-FI" dirty="0" err="1"/>
              <a:t>available</a:t>
            </a:r>
            <a:endParaRPr lang="fi-FI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EDED77-B70D-5950-DC92-818C186679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F78F355C-1BF6-E0F4-3B37-0B6D32E0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42A79E64-982D-B7B9-1565-051DB78FE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837754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CE10-AA6D-3A7F-E4CC-181F0DD92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7017EE2-1113-FF03-827E-D831F16E92E9}"/>
              </a:ext>
            </a:extLst>
          </p:cNvPr>
          <p:cNvSpPr txBox="1"/>
          <p:nvPr/>
        </p:nvSpPr>
        <p:spPr>
          <a:xfrm>
            <a:off x="3763093" y="289225"/>
            <a:ext cx="2059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2800" u="sng" dirty="0"/>
              <a:t>General </a:t>
            </a:r>
            <a:r>
              <a:rPr lang="fi-FI" sz="2800" u="sng" dirty="0" err="1"/>
              <a:t>tips</a:t>
            </a:r>
            <a:endParaRPr lang="fi-FI" sz="28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A88CF-2E22-A665-FC0C-5840CE5A47F6}"/>
              </a:ext>
            </a:extLst>
          </p:cNvPr>
          <p:cNvSpPr txBox="1"/>
          <p:nvPr/>
        </p:nvSpPr>
        <p:spPr>
          <a:xfrm>
            <a:off x="1051230" y="1137038"/>
            <a:ext cx="6768135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Take</a:t>
            </a:r>
            <a:r>
              <a:rPr lang="fi-FI" dirty="0"/>
              <a:t> </a:t>
            </a:r>
            <a:r>
              <a:rPr lang="fi-FI" dirty="0" err="1"/>
              <a:t>notes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Chronological</a:t>
            </a:r>
            <a:r>
              <a:rPr lang="fi-FI" dirty="0"/>
              <a:t> </a:t>
            </a:r>
            <a:r>
              <a:rPr lang="fi-FI" dirty="0" err="1"/>
              <a:t>order</a:t>
            </a:r>
            <a:r>
              <a:rPr lang="fi-FI" dirty="0"/>
              <a:t>, on a </a:t>
            </a:r>
            <a:r>
              <a:rPr lang="fi-FI" dirty="0" err="1"/>
              <a:t>date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Capture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progress</a:t>
            </a:r>
            <a:r>
              <a:rPr lang="fi-FI" dirty="0"/>
              <a:t> of </a:t>
            </a:r>
            <a:r>
              <a:rPr lang="fi-FI" dirty="0" err="1"/>
              <a:t>thinking</a:t>
            </a:r>
            <a:r>
              <a:rPr lang="fi-FI" dirty="0"/>
              <a:t> and </a:t>
            </a:r>
            <a:r>
              <a:rPr lang="fi-FI" dirty="0" err="1"/>
              <a:t>development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Good</a:t>
            </a:r>
            <a:r>
              <a:rPr lang="fi-FI" dirty="0"/>
              <a:t> </a:t>
            </a:r>
            <a:r>
              <a:rPr lang="fi-FI" dirty="0" err="1"/>
              <a:t>ideas</a:t>
            </a:r>
            <a:r>
              <a:rPr lang="fi-FI" dirty="0"/>
              <a:t>, </a:t>
            </a:r>
            <a:r>
              <a:rPr lang="fi-FI" dirty="0" err="1"/>
              <a:t>but</a:t>
            </a:r>
            <a:r>
              <a:rPr lang="fi-FI" dirty="0"/>
              <a:t> </a:t>
            </a:r>
            <a:r>
              <a:rPr lang="fi-FI" dirty="0" err="1"/>
              <a:t>also</a:t>
            </a:r>
            <a:r>
              <a:rPr lang="fi-FI" dirty="0"/>
              <a:t>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good</a:t>
            </a:r>
            <a:r>
              <a:rPr lang="fi-FI" dirty="0"/>
              <a:t> </a:t>
            </a:r>
            <a:r>
              <a:rPr lang="fi-FI" dirty="0" err="1"/>
              <a:t>ones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Also</a:t>
            </a:r>
            <a:r>
              <a:rPr lang="fi-FI" dirty="0"/>
              <a:t> </a:t>
            </a:r>
            <a:r>
              <a:rPr lang="fi-FI" dirty="0" err="1"/>
              <a:t>unsuitable</a:t>
            </a:r>
            <a:r>
              <a:rPr lang="fi-FI" dirty="0"/>
              <a:t> </a:t>
            </a:r>
            <a:r>
              <a:rPr lang="fi-FI" dirty="0" err="1"/>
              <a:t>components</a:t>
            </a:r>
            <a:r>
              <a:rPr lang="fi-FI" dirty="0"/>
              <a:t> </a:t>
            </a:r>
            <a:r>
              <a:rPr lang="fi-FI" dirty="0" err="1"/>
              <a:t>along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way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Read </a:t>
            </a:r>
            <a:r>
              <a:rPr lang="fi-FI" dirty="0" err="1"/>
              <a:t>datasheets</a:t>
            </a:r>
            <a:r>
              <a:rPr lang="fi-FI" dirty="0"/>
              <a:t>, </a:t>
            </a:r>
            <a:r>
              <a:rPr lang="fi-FI" dirty="0" err="1"/>
              <a:t>seriously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prepared</a:t>
            </a:r>
            <a:r>
              <a:rPr lang="fi-FI" dirty="0"/>
              <a:t> to </a:t>
            </a:r>
            <a:r>
              <a:rPr lang="fi-FI" dirty="0" err="1"/>
              <a:t>read</a:t>
            </a:r>
            <a:r>
              <a:rPr lang="fi-FI" dirty="0"/>
              <a:t> </a:t>
            </a:r>
            <a:r>
              <a:rPr lang="fi-FI" dirty="0" err="1"/>
              <a:t>them</a:t>
            </a:r>
            <a:r>
              <a:rPr lang="fi-FI" dirty="0"/>
              <a:t> </a:t>
            </a:r>
            <a:r>
              <a:rPr lang="fi-FI" dirty="0" err="1"/>
              <a:t>several</a:t>
            </a:r>
            <a:r>
              <a:rPr lang="fi-FI" dirty="0"/>
              <a:t> </a:t>
            </a:r>
            <a:r>
              <a:rPr lang="fi-FI" dirty="0" err="1"/>
              <a:t>times</a:t>
            </a:r>
            <a:r>
              <a:rPr lang="fi-FI" dirty="0"/>
              <a:t> </a:t>
            </a:r>
            <a:r>
              <a:rPr lang="fi-FI" dirty="0" err="1"/>
              <a:t>more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Print</a:t>
            </a:r>
            <a:r>
              <a:rPr lang="fi-FI" dirty="0"/>
              <a:t> and </a:t>
            </a:r>
            <a:r>
              <a:rPr lang="fi-FI" dirty="0" err="1"/>
              <a:t>make</a:t>
            </a:r>
            <a:r>
              <a:rPr lang="fi-FI" dirty="0"/>
              <a:t> </a:t>
            </a:r>
            <a:r>
              <a:rPr lang="fi-FI" dirty="0" err="1"/>
              <a:t>notes</a:t>
            </a:r>
            <a:r>
              <a:rPr lang="fi-FI" dirty="0"/>
              <a:t> on </a:t>
            </a:r>
            <a:r>
              <a:rPr lang="fi-FI" dirty="0" err="1"/>
              <a:t>them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dirty="0" err="1"/>
              <a:t>Carelessness</a:t>
            </a:r>
            <a:r>
              <a:rPr lang="fi-FI" dirty="0"/>
              <a:t> in </a:t>
            </a:r>
            <a:r>
              <a:rPr lang="fi-FI" dirty="0" err="1"/>
              <a:t>this</a:t>
            </a:r>
            <a:r>
              <a:rPr lang="fi-FI" dirty="0"/>
              <a:t> </a:t>
            </a:r>
            <a:r>
              <a:rPr lang="fi-FI" dirty="0" err="1"/>
              <a:t>phase</a:t>
            </a:r>
            <a:r>
              <a:rPr lang="fi-FI" dirty="0"/>
              <a:t> =&gt; extra </a:t>
            </a:r>
            <a:r>
              <a:rPr lang="fi-FI" dirty="0" err="1"/>
              <a:t>work</a:t>
            </a:r>
            <a:r>
              <a:rPr lang="fi-FI" dirty="0"/>
              <a:t> </a:t>
            </a:r>
            <a:r>
              <a:rPr lang="fi-FI" dirty="0" err="1"/>
              <a:t>later</a:t>
            </a:r>
            <a:r>
              <a:rPr lang="fi-FI" dirty="0"/>
              <a:t> 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Web </a:t>
            </a:r>
            <a:r>
              <a:rPr lang="fi-FI" dirty="0" err="1"/>
              <a:t>search</a:t>
            </a:r>
            <a:r>
              <a:rPr lang="fi-FI" dirty="0"/>
              <a:t> </a:t>
            </a:r>
            <a:r>
              <a:rPr lang="fi-FI" dirty="0" err="1"/>
              <a:t>topics</a:t>
            </a:r>
            <a:r>
              <a:rPr lang="fi-FI" dirty="0"/>
              <a:t>, for </a:t>
            </a:r>
            <a:r>
              <a:rPr lang="fi-FI" dirty="0" err="1"/>
              <a:t>example</a:t>
            </a:r>
            <a:endParaRPr lang="fi-FI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embedded systems example projects/ real world examples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embedded systems typical functions/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how to read electrical component X datasheet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course staff for help in case you get stuck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Rather sooner than later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But give it a serious attempt first</a:t>
            </a:r>
          </a:p>
          <a:p>
            <a:pPr lvl="1"/>
            <a:endParaRPr lang="fi-FI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DD6FF3-DAFD-314F-FBBD-7D2DE8519D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92B4B05-388F-275C-CD97-9A220A89A0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pPr>
              <a:defRPr/>
            </a:pPr>
            <a:fld id="{67829952-A241-4E1A-864E-A012D579ACA4}" type="datetime1">
              <a:rPr lang="en-US" smtClean="0"/>
              <a:t>1/23/2026</a:t>
            </a:fld>
            <a:endParaRPr lang="fi-FI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EBDFE2A9-874E-C07E-EE8B-25F3492B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fi-FI" dirty="0" err="1"/>
              <a:t>Lecture</a:t>
            </a:r>
            <a:r>
              <a:rPr lang="fi-FI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90379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1945329EFCFA48A7B7EA752C812E88" ma:contentTypeVersion="4" ma:contentTypeDescription="Create a new document." ma:contentTypeScope="" ma:versionID="8929b307dadd534775f40a709b13b95a">
  <xsd:schema xmlns:xsd="http://www.w3.org/2001/XMLSchema" xmlns:xs="http://www.w3.org/2001/XMLSchema" xmlns:p="http://schemas.microsoft.com/office/2006/metadata/properties" xmlns:ns2="08ca70a3-59b4-422c-9f47-ab11dbb79f1e" targetNamespace="http://schemas.microsoft.com/office/2006/metadata/properties" ma:root="true" ma:fieldsID="e653aaf4c40a3e2f1cb5bac802b64905" ns2:_="">
    <xsd:import namespace="08ca70a3-59b4-422c-9f47-ab11dbb79f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ca70a3-59b4-422c-9f47-ab11dbb79f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F8CEB8-C0DC-44D8-867B-7497EF338CB9}">
  <ds:schemaRefs>
    <ds:schemaRef ds:uri="08ca70a3-59b4-422c-9f47-ab11dbb79f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25AD09A-DBF5-449B-AD7F-F905C9A2D7CA}">
  <ds:schemaRefs>
    <ds:schemaRef ds:uri="08ca70a3-59b4-422c-9f47-ab11dbb79f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FB9D783-290C-43B3-A551-F9D19191FA1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f9ce49a-5101-4aa3-8c75-0d5935ad6525}" enabled="0" method="" siteId="{9f9ce49a-5101-4aa3-8c75-0d5935ad652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2481</Words>
  <Application>Microsoft Office PowerPoint</Application>
  <PresentationFormat>On-screen Show (4:3)</PresentationFormat>
  <Paragraphs>482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Office Theme</vt:lpstr>
      <vt:lpstr>Embedded System Project (521423S)  Specifications</vt:lpstr>
      <vt:lpstr>Design phases</vt:lpstr>
      <vt:lpstr>Requirement specification</vt:lpstr>
      <vt:lpstr>Requirement specification</vt:lpstr>
      <vt:lpstr>Requirement specification</vt:lpstr>
      <vt:lpstr>Requirement specification</vt:lpstr>
      <vt:lpstr>Example of hierarchy</vt:lpstr>
      <vt:lpstr>Technical specification</vt:lpstr>
      <vt:lpstr>Technical specification</vt:lpstr>
      <vt:lpstr>Technical specification</vt:lpstr>
      <vt:lpstr>Technical specification</vt:lpstr>
      <vt:lpstr>Examples of Requirements to TechSpec </vt:lpstr>
      <vt:lpstr>Software tech plan</vt:lpstr>
      <vt:lpstr>Test plan</vt:lpstr>
      <vt:lpstr>Schedule</vt:lpstr>
      <vt:lpstr>Deadlines</vt:lpstr>
      <vt:lpstr> Discussion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Oulu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Project (521423S)</dc:title>
  <dc:creator>tech</dc:creator>
  <cp:lastModifiedBy>Siva Ariram</cp:lastModifiedBy>
  <cp:revision>6</cp:revision>
  <dcterms:created xsi:type="dcterms:W3CDTF">2008-01-21T13:24:59Z</dcterms:created>
  <dcterms:modified xsi:type="dcterms:W3CDTF">2026-01-23T07:45:11Z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0x0101006B1945329EFCFA48A7B7EA752C812E88</vt:lpwstr>
  </property>
</Properties>
</file>