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handoutMasterIdLst>
    <p:handoutMasterId r:id="rId24"/>
  </p:handoutMasterIdLst>
  <p:sldIdLst>
    <p:sldId id="299" r:id="rId2"/>
    <p:sldId id="280" r:id="rId3"/>
    <p:sldId id="324" r:id="rId4"/>
    <p:sldId id="318" r:id="rId5"/>
    <p:sldId id="320" r:id="rId6"/>
    <p:sldId id="307" r:id="rId7"/>
    <p:sldId id="311" r:id="rId8"/>
    <p:sldId id="329" r:id="rId9"/>
    <p:sldId id="317" r:id="rId10"/>
    <p:sldId id="328" r:id="rId11"/>
    <p:sldId id="331" r:id="rId12"/>
    <p:sldId id="321" r:id="rId13"/>
    <p:sldId id="327" r:id="rId14"/>
    <p:sldId id="322" r:id="rId15"/>
    <p:sldId id="323" r:id="rId16"/>
    <p:sldId id="315" r:id="rId17"/>
    <p:sldId id="334" r:id="rId18"/>
    <p:sldId id="332" r:id="rId19"/>
    <p:sldId id="314" r:id="rId20"/>
    <p:sldId id="333" r:id="rId21"/>
    <p:sldId id="325" r:id="rId22"/>
    <p:sldId id="302" r:id="rId23"/>
  </p:sldIdLst>
  <p:sldSz cx="9144000" cy="6858000" type="screen4x3"/>
  <p:notesSz cx="6794500" cy="9906000"/>
  <p:defaultTextStyle>
    <a:defPPr>
      <a:defRPr lang="fi-FI"/>
    </a:defPPr>
    <a:lvl1pPr algn="l" rtl="0" eaLnBrk="0" fontAlgn="base" hangingPunct="0">
      <a:spcBef>
        <a:spcPct val="0"/>
      </a:spcBef>
      <a:spcAft>
        <a:spcPct val="0"/>
      </a:spcAft>
      <a:defRPr kern="1200">
        <a:solidFill>
          <a:schemeClr val="tx1"/>
        </a:solidFill>
        <a:latin typeface="Arial" pitchFamily="34" charset="0"/>
        <a:ea typeface="+mn-ea"/>
        <a:cs typeface="+mn-cs"/>
      </a:defRPr>
    </a:lvl1pPr>
    <a:lvl2pPr marL="457200" algn="l" rtl="0" eaLnBrk="0" fontAlgn="base" hangingPunct="0">
      <a:spcBef>
        <a:spcPct val="0"/>
      </a:spcBef>
      <a:spcAft>
        <a:spcPct val="0"/>
      </a:spcAft>
      <a:defRPr kern="1200">
        <a:solidFill>
          <a:schemeClr val="tx1"/>
        </a:solidFill>
        <a:latin typeface="Arial" pitchFamily="34" charset="0"/>
        <a:ea typeface="+mn-ea"/>
        <a:cs typeface="+mn-cs"/>
      </a:defRPr>
    </a:lvl2pPr>
    <a:lvl3pPr marL="914400" algn="l" rtl="0" eaLnBrk="0" fontAlgn="base" hangingPunct="0">
      <a:spcBef>
        <a:spcPct val="0"/>
      </a:spcBef>
      <a:spcAft>
        <a:spcPct val="0"/>
      </a:spcAft>
      <a:defRPr kern="1200">
        <a:solidFill>
          <a:schemeClr val="tx1"/>
        </a:solidFill>
        <a:latin typeface="Arial"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37" autoAdjust="0"/>
    <p:restoredTop sz="94670" autoAdjust="0"/>
  </p:normalViewPr>
  <p:slideViewPr>
    <p:cSldViewPr>
      <p:cViewPr varScale="1">
        <p:scale>
          <a:sx n="83" d="100"/>
          <a:sy n="83" d="100"/>
        </p:scale>
        <p:origin x="1450" y="6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4813" cy="495300"/>
          </a:xfrm>
          <a:prstGeom prst="rect">
            <a:avLst/>
          </a:prstGeom>
        </p:spPr>
        <p:txBody>
          <a:bodyPr vert="horz" lIns="91440" tIns="45720" rIns="91440" bIns="45720" rtlCol="0"/>
          <a:lstStyle>
            <a:lvl1pPr algn="l" eaLnBrk="1" hangingPunct="1">
              <a:defRPr sz="1200">
                <a:latin typeface="Arial" charset="0"/>
              </a:defRPr>
            </a:lvl1pPr>
          </a:lstStyle>
          <a:p>
            <a:pPr>
              <a:defRPr/>
            </a:pPr>
            <a:endParaRPr lang="en-US"/>
          </a:p>
        </p:txBody>
      </p:sp>
      <p:sp>
        <p:nvSpPr>
          <p:cNvPr id="3" name="Date Placeholder 2"/>
          <p:cNvSpPr>
            <a:spLocks noGrp="1"/>
          </p:cNvSpPr>
          <p:nvPr>
            <p:ph type="dt" sz="quarter" idx="1"/>
          </p:nvPr>
        </p:nvSpPr>
        <p:spPr>
          <a:xfrm>
            <a:off x="3848100" y="0"/>
            <a:ext cx="2944813" cy="495300"/>
          </a:xfrm>
          <a:prstGeom prst="rect">
            <a:avLst/>
          </a:prstGeom>
        </p:spPr>
        <p:txBody>
          <a:bodyPr vert="horz" lIns="91440" tIns="45720" rIns="91440" bIns="45720" rtlCol="0"/>
          <a:lstStyle>
            <a:lvl1pPr algn="r" eaLnBrk="1" hangingPunct="1">
              <a:defRPr sz="1200">
                <a:latin typeface="Arial" charset="0"/>
              </a:defRPr>
            </a:lvl1pPr>
          </a:lstStyle>
          <a:p>
            <a:pPr>
              <a:defRPr/>
            </a:pPr>
            <a:fld id="{C4C5DF8E-5614-4DDE-829A-AE184B076058}" type="datetimeFigureOut">
              <a:rPr lang="en-US"/>
              <a:pPr>
                <a:defRPr/>
              </a:pPr>
              <a:t>3/19/2026</a:t>
            </a:fld>
            <a:endParaRPr lang="en-US"/>
          </a:p>
        </p:txBody>
      </p:sp>
      <p:sp>
        <p:nvSpPr>
          <p:cNvPr id="4" name="Footer Placeholder 3"/>
          <p:cNvSpPr>
            <a:spLocks noGrp="1"/>
          </p:cNvSpPr>
          <p:nvPr>
            <p:ph type="ftr" sz="quarter" idx="2"/>
          </p:nvPr>
        </p:nvSpPr>
        <p:spPr>
          <a:xfrm>
            <a:off x="0" y="9409113"/>
            <a:ext cx="2944813" cy="495300"/>
          </a:xfrm>
          <a:prstGeom prst="rect">
            <a:avLst/>
          </a:prstGeom>
        </p:spPr>
        <p:txBody>
          <a:bodyPr vert="horz" lIns="91440" tIns="45720" rIns="91440" bIns="45720" rtlCol="0" anchor="b"/>
          <a:lstStyle>
            <a:lvl1pPr algn="l" eaLnBrk="1" hangingPunct="1">
              <a:defRPr sz="1200">
                <a:latin typeface="Arial" charset="0"/>
              </a:defRPr>
            </a:lvl1pPr>
          </a:lstStyle>
          <a:p>
            <a:pPr>
              <a:defRPr/>
            </a:pPr>
            <a:endParaRPr lang="en-US"/>
          </a:p>
        </p:txBody>
      </p:sp>
      <p:sp>
        <p:nvSpPr>
          <p:cNvPr id="5" name="Slide Number Placeholder 4"/>
          <p:cNvSpPr>
            <a:spLocks noGrp="1"/>
          </p:cNvSpPr>
          <p:nvPr>
            <p:ph type="sldNum" sz="quarter" idx="3"/>
          </p:nvPr>
        </p:nvSpPr>
        <p:spPr>
          <a:xfrm>
            <a:off x="3848100" y="9409113"/>
            <a:ext cx="2944813" cy="4953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E1DC0960-36CE-4780-80EF-1BDBB3F0B1BD}" type="slidenum">
              <a:rPr lang="en-US" altLang="fi-FI"/>
              <a:pPr/>
              <a:t>‹#›</a:t>
            </a:fld>
            <a:endParaRPr lang="en-US" altLang="fi-FI"/>
          </a:p>
        </p:txBody>
      </p:sp>
    </p:spTree>
    <p:extLst>
      <p:ext uri="{BB962C8B-B14F-4D97-AF65-F5344CB8AC3E}">
        <p14:creationId xmlns:p14="http://schemas.microsoft.com/office/powerpoint/2010/main" val="3383885650"/>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fi-FI"/>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fi-FI"/>
          </a:p>
        </p:txBody>
      </p:sp>
      <p:sp>
        <p:nvSpPr>
          <p:cNvPr id="4" name="Rectangle 4"/>
          <p:cNvSpPr>
            <a:spLocks noGrp="1" noChangeArrowheads="1"/>
          </p:cNvSpPr>
          <p:nvPr>
            <p:ph type="dt" sz="half" idx="10"/>
          </p:nvPr>
        </p:nvSpPr>
        <p:spPr>
          <a:ln/>
        </p:spPr>
        <p:txBody>
          <a:bodyPr/>
          <a:lstStyle>
            <a:lvl1pPr>
              <a:defRPr/>
            </a:lvl1pPr>
          </a:lstStyle>
          <a:p>
            <a:pPr>
              <a:defRPr/>
            </a:pPr>
            <a:endParaRPr lang="fi-FI"/>
          </a:p>
        </p:txBody>
      </p:sp>
      <p:sp>
        <p:nvSpPr>
          <p:cNvPr id="5" name="Rectangle 5"/>
          <p:cNvSpPr>
            <a:spLocks noGrp="1" noChangeArrowheads="1"/>
          </p:cNvSpPr>
          <p:nvPr>
            <p:ph type="ftr" sz="quarter" idx="11"/>
          </p:nvPr>
        </p:nvSpPr>
        <p:spPr>
          <a:ln/>
        </p:spPr>
        <p:txBody>
          <a:bodyPr/>
          <a:lstStyle>
            <a:lvl1pPr>
              <a:defRPr/>
            </a:lvl1pPr>
          </a:lstStyle>
          <a:p>
            <a:pPr>
              <a:defRPr/>
            </a:pPr>
            <a:endParaRPr lang="fi-FI"/>
          </a:p>
        </p:txBody>
      </p:sp>
      <p:sp>
        <p:nvSpPr>
          <p:cNvPr id="6" name="Rectangle 6"/>
          <p:cNvSpPr>
            <a:spLocks noGrp="1" noChangeArrowheads="1"/>
          </p:cNvSpPr>
          <p:nvPr>
            <p:ph type="sldNum" sz="quarter" idx="12"/>
          </p:nvPr>
        </p:nvSpPr>
        <p:spPr>
          <a:ln/>
        </p:spPr>
        <p:txBody>
          <a:bodyPr/>
          <a:lstStyle>
            <a:lvl1pPr>
              <a:defRPr/>
            </a:lvl1pPr>
          </a:lstStyle>
          <a:p>
            <a:fld id="{CD97AFA2-C9D5-408D-A49D-1AC5378A41FE}" type="slidenum">
              <a:rPr lang="fi-FI" altLang="fi-FI"/>
              <a:pPr/>
              <a:t>‹#›</a:t>
            </a:fld>
            <a:endParaRPr lang="fi-FI" altLang="fi-FI"/>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rPr lang="en-US" dirty="0" smtClean="0"/>
              <a:t>Click to edit Master title style</a:t>
            </a:r>
            <a:endParaRPr lang="fi-FI" dirty="0"/>
          </a:p>
        </p:txBody>
      </p:sp>
      <p:sp>
        <p:nvSpPr>
          <p:cNvPr id="3" name="Content Placeholder 2"/>
          <p:cNvSpPr>
            <a:spLocks noGrp="1"/>
          </p:cNvSpPr>
          <p:nvPr>
            <p:ph idx="1"/>
          </p:nvPr>
        </p:nvSpPr>
        <p:spPr/>
        <p:txBody>
          <a:bodyPr/>
          <a:lstStyle>
            <a:lvl1pPr>
              <a:defRPr sz="2000"/>
            </a:lvl1pPr>
            <a:lvl2pPr>
              <a:defRPr sz="2000"/>
            </a:lvl2pPr>
            <a:lvl3pPr>
              <a:defRPr sz="2000"/>
            </a:lvl3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fi-FI" dirty="0"/>
          </a:p>
        </p:txBody>
      </p:sp>
      <p:sp>
        <p:nvSpPr>
          <p:cNvPr id="4" name="Rectangle 4"/>
          <p:cNvSpPr>
            <a:spLocks noGrp="1" noChangeArrowheads="1"/>
          </p:cNvSpPr>
          <p:nvPr>
            <p:ph type="dt" sz="half" idx="10"/>
          </p:nvPr>
        </p:nvSpPr>
        <p:spPr>
          <a:ln/>
        </p:spPr>
        <p:txBody>
          <a:bodyPr/>
          <a:lstStyle>
            <a:lvl1pPr>
              <a:defRPr/>
            </a:lvl1pPr>
          </a:lstStyle>
          <a:p>
            <a:pPr>
              <a:defRPr/>
            </a:pPr>
            <a:endParaRPr lang="fi-FI"/>
          </a:p>
        </p:txBody>
      </p:sp>
      <p:sp>
        <p:nvSpPr>
          <p:cNvPr id="5" name="Rectangle 5"/>
          <p:cNvSpPr>
            <a:spLocks noGrp="1" noChangeArrowheads="1"/>
          </p:cNvSpPr>
          <p:nvPr>
            <p:ph type="ftr" sz="quarter" idx="11"/>
          </p:nvPr>
        </p:nvSpPr>
        <p:spPr>
          <a:ln/>
        </p:spPr>
        <p:txBody>
          <a:bodyPr/>
          <a:lstStyle>
            <a:lvl1pPr>
              <a:defRPr/>
            </a:lvl1pPr>
          </a:lstStyle>
          <a:p>
            <a:pPr>
              <a:defRPr/>
            </a:pPr>
            <a:endParaRPr lang="fi-FI"/>
          </a:p>
        </p:txBody>
      </p:sp>
      <p:sp>
        <p:nvSpPr>
          <p:cNvPr id="6" name="Rectangle 6"/>
          <p:cNvSpPr>
            <a:spLocks noGrp="1" noChangeArrowheads="1"/>
          </p:cNvSpPr>
          <p:nvPr>
            <p:ph type="sldNum" sz="quarter" idx="12"/>
          </p:nvPr>
        </p:nvSpPr>
        <p:spPr>
          <a:ln/>
        </p:spPr>
        <p:txBody>
          <a:bodyPr/>
          <a:lstStyle>
            <a:lvl1pPr>
              <a:defRPr/>
            </a:lvl1pPr>
          </a:lstStyle>
          <a:p>
            <a:fld id="{17597F04-0B87-40B7-A8FC-8EF16FEC44EE}" type="slidenum">
              <a:rPr lang="fi-FI" altLang="fi-FI"/>
              <a:pPr/>
              <a:t>‹#›</a:t>
            </a:fld>
            <a:endParaRPr lang="fi-FI" altLang="fi-FI"/>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fi-FI"/>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fi-FI"/>
          </a:p>
        </p:txBody>
      </p:sp>
      <p:sp>
        <p:nvSpPr>
          <p:cNvPr id="5" name="Rectangle 5"/>
          <p:cNvSpPr>
            <a:spLocks noGrp="1" noChangeArrowheads="1"/>
          </p:cNvSpPr>
          <p:nvPr>
            <p:ph type="ftr" sz="quarter" idx="11"/>
          </p:nvPr>
        </p:nvSpPr>
        <p:spPr>
          <a:ln/>
        </p:spPr>
        <p:txBody>
          <a:bodyPr/>
          <a:lstStyle>
            <a:lvl1pPr>
              <a:defRPr/>
            </a:lvl1pPr>
          </a:lstStyle>
          <a:p>
            <a:pPr>
              <a:defRPr/>
            </a:pPr>
            <a:endParaRPr lang="fi-FI"/>
          </a:p>
        </p:txBody>
      </p:sp>
      <p:sp>
        <p:nvSpPr>
          <p:cNvPr id="6" name="Rectangle 6"/>
          <p:cNvSpPr>
            <a:spLocks noGrp="1" noChangeArrowheads="1"/>
          </p:cNvSpPr>
          <p:nvPr>
            <p:ph type="sldNum" sz="quarter" idx="12"/>
          </p:nvPr>
        </p:nvSpPr>
        <p:spPr>
          <a:ln/>
        </p:spPr>
        <p:txBody>
          <a:bodyPr/>
          <a:lstStyle>
            <a:lvl1pPr>
              <a:defRPr/>
            </a:lvl1pPr>
          </a:lstStyle>
          <a:p>
            <a:fld id="{23576FBC-10BC-42EE-889E-9D7105A5D1C4}" type="slidenum">
              <a:rPr lang="fi-FI" altLang="fi-FI"/>
              <a:pPr/>
              <a:t>‹#›</a:t>
            </a:fld>
            <a:endParaRPr lang="fi-FI" altLang="fi-FI"/>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i-FI"/>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i-FI"/>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i-FI"/>
          </a:p>
        </p:txBody>
      </p:sp>
      <p:sp>
        <p:nvSpPr>
          <p:cNvPr id="5" name="Rectangle 4"/>
          <p:cNvSpPr>
            <a:spLocks noGrp="1" noChangeArrowheads="1"/>
          </p:cNvSpPr>
          <p:nvPr>
            <p:ph type="dt" sz="half" idx="10"/>
          </p:nvPr>
        </p:nvSpPr>
        <p:spPr>
          <a:ln/>
        </p:spPr>
        <p:txBody>
          <a:bodyPr/>
          <a:lstStyle>
            <a:lvl1pPr>
              <a:defRPr/>
            </a:lvl1pPr>
          </a:lstStyle>
          <a:p>
            <a:pPr>
              <a:defRPr/>
            </a:pPr>
            <a:endParaRPr lang="fi-FI"/>
          </a:p>
        </p:txBody>
      </p:sp>
      <p:sp>
        <p:nvSpPr>
          <p:cNvPr id="6" name="Rectangle 5"/>
          <p:cNvSpPr>
            <a:spLocks noGrp="1" noChangeArrowheads="1"/>
          </p:cNvSpPr>
          <p:nvPr>
            <p:ph type="ftr" sz="quarter" idx="11"/>
          </p:nvPr>
        </p:nvSpPr>
        <p:spPr>
          <a:ln/>
        </p:spPr>
        <p:txBody>
          <a:bodyPr/>
          <a:lstStyle>
            <a:lvl1pPr>
              <a:defRPr/>
            </a:lvl1pPr>
          </a:lstStyle>
          <a:p>
            <a:pPr>
              <a:defRPr/>
            </a:pPr>
            <a:endParaRPr lang="fi-FI"/>
          </a:p>
        </p:txBody>
      </p:sp>
      <p:sp>
        <p:nvSpPr>
          <p:cNvPr id="7" name="Rectangle 6"/>
          <p:cNvSpPr>
            <a:spLocks noGrp="1" noChangeArrowheads="1"/>
          </p:cNvSpPr>
          <p:nvPr>
            <p:ph type="sldNum" sz="quarter" idx="12"/>
          </p:nvPr>
        </p:nvSpPr>
        <p:spPr>
          <a:ln/>
        </p:spPr>
        <p:txBody>
          <a:bodyPr/>
          <a:lstStyle>
            <a:lvl1pPr>
              <a:defRPr/>
            </a:lvl1pPr>
          </a:lstStyle>
          <a:p>
            <a:fld id="{B709A9D3-3C48-4F9E-B99B-0C4827E3CBAF}" type="slidenum">
              <a:rPr lang="fi-FI" altLang="fi-FI"/>
              <a:pPr/>
              <a:t>‹#›</a:t>
            </a:fld>
            <a:endParaRPr lang="fi-FI" altLang="fi-FI"/>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fi-FI"/>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i-FI"/>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i-FI"/>
          </a:p>
        </p:txBody>
      </p:sp>
      <p:sp>
        <p:nvSpPr>
          <p:cNvPr id="7" name="Rectangle 4"/>
          <p:cNvSpPr>
            <a:spLocks noGrp="1" noChangeArrowheads="1"/>
          </p:cNvSpPr>
          <p:nvPr>
            <p:ph type="dt" sz="half" idx="10"/>
          </p:nvPr>
        </p:nvSpPr>
        <p:spPr>
          <a:ln/>
        </p:spPr>
        <p:txBody>
          <a:bodyPr/>
          <a:lstStyle>
            <a:lvl1pPr>
              <a:defRPr/>
            </a:lvl1pPr>
          </a:lstStyle>
          <a:p>
            <a:pPr>
              <a:defRPr/>
            </a:pPr>
            <a:endParaRPr lang="fi-FI"/>
          </a:p>
        </p:txBody>
      </p:sp>
      <p:sp>
        <p:nvSpPr>
          <p:cNvPr id="8" name="Rectangle 5"/>
          <p:cNvSpPr>
            <a:spLocks noGrp="1" noChangeArrowheads="1"/>
          </p:cNvSpPr>
          <p:nvPr>
            <p:ph type="ftr" sz="quarter" idx="11"/>
          </p:nvPr>
        </p:nvSpPr>
        <p:spPr>
          <a:ln/>
        </p:spPr>
        <p:txBody>
          <a:bodyPr/>
          <a:lstStyle>
            <a:lvl1pPr>
              <a:defRPr/>
            </a:lvl1pPr>
          </a:lstStyle>
          <a:p>
            <a:pPr>
              <a:defRPr/>
            </a:pPr>
            <a:endParaRPr lang="fi-FI"/>
          </a:p>
        </p:txBody>
      </p:sp>
      <p:sp>
        <p:nvSpPr>
          <p:cNvPr id="9" name="Rectangle 6"/>
          <p:cNvSpPr>
            <a:spLocks noGrp="1" noChangeArrowheads="1"/>
          </p:cNvSpPr>
          <p:nvPr>
            <p:ph type="sldNum" sz="quarter" idx="12"/>
          </p:nvPr>
        </p:nvSpPr>
        <p:spPr>
          <a:ln/>
        </p:spPr>
        <p:txBody>
          <a:bodyPr/>
          <a:lstStyle>
            <a:lvl1pPr>
              <a:defRPr/>
            </a:lvl1pPr>
          </a:lstStyle>
          <a:p>
            <a:fld id="{242F5003-8D78-4ED4-8627-F55CA33BA1E1}" type="slidenum">
              <a:rPr lang="fi-FI" altLang="fi-FI"/>
              <a:pPr/>
              <a:t>‹#›</a:t>
            </a:fld>
            <a:endParaRPr lang="fi-FI" altLang="fi-FI"/>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i-FI"/>
          </a:p>
        </p:txBody>
      </p:sp>
      <p:sp>
        <p:nvSpPr>
          <p:cNvPr id="3" name="Rectangle 4"/>
          <p:cNvSpPr>
            <a:spLocks noGrp="1" noChangeArrowheads="1"/>
          </p:cNvSpPr>
          <p:nvPr>
            <p:ph type="dt" sz="half" idx="10"/>
          </p:nvPr>
        </p:nvSpPr>
        <p:spPr>
          <a:ln/>
        </p:spPr>
        <p:txBody>
          <a:bodyPr/>
          <a:lstStyle>
            <a:lvl1pPr>
              <a:defRPr/>
            </a:lvl1pPr>
          </a:lstStyle>
          <a:p>
            <a:pPr>
              <a:defRPr/>
            </a:pPr>
            <a:endParaRPr lang="fi-FI"/>
          </a:p>
        </p:txBody>
      </p:sp>
      <p:sp>
        <p:nvSpPr>
          <p:cNvPr id="4" name="Rectangle 5"/>
          <p:cNvSpPr>
            <a:spLocks noGrp="1" noChangeArrowheads="1"/>
          </p:cNvSpPr>
          <p:nvPr>
            <p:ph type="ftr" sz="quarter" idx="11"/>
          </p:nvPr>
        </p:nvSpPr>
        <p:spPr>
          <a:ln/>
        </p:spPr>
        <p:txBody>
          <a:bodyPr/>
          <a:lstStyle>
            <a:lvl1pPr>
              <a:defRPr/>
            </a:lvl1pPr>
          </a:lstStyle>
          <a:p>
            <a:pPr>
              <a:defRPr/>
            </a:pPr>
            <a:endParaRPr lang="fi-FI"/>
          </a:p>
        </p:txBody>
      </p:sp>
      <p:sp>
        <p:nvSpPr>
          <p:cNvPr id="5" name="Rectangle 6"/>
          <p:cNvSpPr>
            <a:spLocks noGrp="1" noChangeArrowheads="1"/>
          </p:cNvSpPr>
          <p:nvPr>
            <p:ph type="sldNum" sz="quarter" idx="12"/>
          </p:nvPr>
        </p:nvSpPr>
        <p:spPr>
          <a:ln/>
        </p:spPr>
        <p:txBody>
          <a:bodyPr/>
          <a:lstStyle>
            <a:lvl1pPr>
              <a:defRPr/>
            </a:lvl1pPr>
          </a:lstStyle>
          <a:p>
            <a:fld id="{B7FABAB2-80F1-4B67-903E-F6CFD67548AB}" type="slidenum">
              <a:rPr lang="fi-FI" altLang="fi-FI"/>
              <a:pPr/>
              <a:t>‹#›</a:t>
            </a:fld>
            <a:endParaRPr lang="fi-FI" altLang="fi-FI"/>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fi-FI"/>
          </a:p>
        </p:txBody>
      </p:sp>
      <p:sp>
        <p:nvSpPr>
          <p:cNvPr id="3" name="Rectangle 5"/>
          <p:cNvSpPr>
            <a:spLocks noGrp="1" noChangeArrowheads="1"/>
          </p:cNvSpPr>
          <p:nvPr>
            <p:ph type="ftr" sz="quarter" idx="11"/>
          </p:nvPr>
        </p:nvSpPr>
        <p:spPr>
          <a:ln/>
        </p:spPr>
        <p:txBody>
          <a:bodyPr/>
          <a:lstStyle>
            <a:lvl1pPr>
              <a:defRPr/>
            </a:lvl1pPr>
          </a:lstStyle>
          <a:p>
            <a:pPr>
              <a:defRPr/>
            </a:pPr>
            <a:endParaRPr lang="fi-FI"/>
          </a:p>
        </p:txBody>
      </p:sp>
      <p:sp>
        <p:nvSpPr>
          <p:cNvPr id="4" name="Rectangle 6"/>
          <p:cNvSpPr>
            <a:spLocks noGrp="1" noChangeArrowheads="1"/>
          </p:cNvSpPr>
          <p:nvPr>
            <p:ph type="sldNum" sz="quarter" idx="12"/>
          </p:nvPr>
        </p:nvSpPr>
        <p:spPr>
          <a:ln/>
        </p:spPr>
        <p:txBody>
          <a:bodyPr/>
          <a:lstStyle>
            <a:lvl1pPr>
              <a:defRPr/>
            </a:lvl1pPr>
          </a:lstStyle>
          <a:p>
            <a:fld id="{92AB4129-6786-484F-BBB5-B79B6A28E32B}" type="slidenum">
              <a:rPr lang="fi-FI" altLang="fi-FI"/>
              <a:pPr/>
              <a:t>‹#›</a:t>
            </a:fld>
            <a:endParaRPr lang="fi-FI" altLang="fi-FI"/>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fi-FI"/>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i-FI"/>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fi-FI"/>
          </a:p>
        </p:txBody>
      </p:sp>
      <p:sp>
        <p:nvSpPr>
          <p:cNvPr id="6" name="Rectangle 5"/>
          <p:cNvSpPr>
            <a:spLocks noGrp="1" noChangeArrowheads="1"/>
          </p:cNvSpPr>
          <p:nvPr>
            <p:ph type="ftr" sz="quarter" idx="11"/>
          </p:nvPr>
        </p:nvSpPr>
        <p:spPr>
          <a:ln/>
        </p:spPr>
        <p:txBody>
          <a:bodyPr/>
          <a:lstStyle>
            <a:lvl1pPr>
              <a:defRPr/>
            </a:lvl1pPr>
          </a:lstStyle>
          <a:p>
            <a:pPr>
              <a:defRPr/>
            </a:pPr>
            <a:endParaRPr lang="fi-FI"/>
          </a:p>
        </p:txBody>
      </p:sp>
      <p:sp>
        <p:nvSpPr>
          <p:cNvPr id="7" name="Rectangle 6"/>
          <p:cNvSpPr>
            <a:spLocks noGrp="1" noChangeArrowheads="1"/>
          </p:cNvSpPr>
          <p:nvPr>
            <p:ph type="sldNum" sz="quarter" idx="12"/>
          </p:nvPr>
        </p:nvSpPr>
        <p:spPr>
          <a:ln/>
        </p:spPr>
        <p:txBody>
          <a:bodyPr/>
          <a:lstStyle>
            <a:lvl1pPr>
              <a:defRPr/>
            </a:lvl1pPr>
          </a:lstStyle>
          <a:p>
            <a:fld id="{DAE12028-F1E7-4A1E-B85F-451DD4C69430}" type="slidenum">
              <a:rPr lang="fi-FI" altLang="fi-FI"/>
              <a:pPr/>
              <a:t>‹#›</a:t>
            </a:fld>
            <a:endParaRPr lang="fi-FI" altLang="fi-FI"/>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fi-FI"/>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i-FI"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fi-FI"/>
          </a:p>
        </p:txBody>
      </p:sp>
      <p:sp>
        <p:nvSpPr>
          <p:cNvPr id="6" name="Rectangle 5"/>
          <p:cNvSpPr>
            <a:spLocks noGrp="1" noChangeArrowheads="1"/>
          </p:cNvSpPr>
          <p:nvPr>
            <p:ph type="ftr" sz="quarter" idx="11"/>
          </p:nvPr>
        </p:nvSpPr>
        <p:spPr>
          <a:ln/>
        </p:spPr>
        <p:txBody>
          <a:bodyPr/>
          <a:lstStyle>
            <a:lvl1pPr>
              <a:defRPr/>
            </a:lvl1pPr>
          </a:lstStyle>
          <a:p>
            <a:pPr>
              <a:defRPr/>
            </a:pPr>
            <a:endParaRPr lang="fi-FI"/>
          </a:p>
        </p:txBody>
      </p:sp>
      <p:sp>
        <p:nvSpPr>
          <p:cNvPr id="7" name="Rectangle 6"/>
          <p:cNvSpPr>
            <a:spLocks noGrp="1" noChangeArrowheads="1"/>
          </p:cNvSpPr>
          <p:nvPr>
            <p:ph type="sldNum" sz="quarter" idx="12"/>
          </p:nvPr>
        </p:nvSpPr>
        <p:spPr>
          <a:ln/>
        </p:spPr>
        <p:txBody>
          <a:bodyPr/>
          <a:lstStyle>
            <a:lvl1pPr>
              <a:defRPr/>
            </a:lvl1pPr>
          </a:lstStyle>
          <a:p>
            <a:fld id="{40E79880-0E71-4650-97D8-55EE8414CC76}" type="slidenum">
              <a:rPr lang="fi-FI" altLang="fi-FI"/>
              <a:pPr/>
              <a:t>‹#›</a:t>
            </a:fld>
            <a:endParaRPr lang="fi-FI" altLang="fi-FI"/>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fi-FI"/>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i-FI"/>
          </a:p>
        </p:txBody>
      </p:sp>
      <p:sp>
        <p:nvSpPr>
          <p:cNvPr id="4" name="Rectangle 4"/>
          <p:cNvSpPr>
            <a:spLocks noGrp="1" noChangeArrowheads="1"/>
          </p:cNvSpPr>
          <p:nvPr>
            <p:ph type="dt" sz="half" idx="10"/>
          </p:nvPr>
        </p:nvSpPr>
        <p:spPr>
          <a:ln/>
        </p:spPr>
        <p:txBody>
          <a:bodyPr/>
          <a:lstStyle>
            <a:lvl1pPr>
              <a:defRPr/>
            </a:lvl1pPr>
          </a:lstStyle>
          <a:p>
            <a:pPr>
              <a:defRPr/>
            </a:pPr>
            <a:endParaRPr lang="fi-FI"/>
          </a:p>
        </p:txBody>
      </p:sp>
      <p:sp>
        <p:nvSpPr>
          <p:cNvPr id="5" name="Rectangle 5"/>
          <p:cNvSpPr>
            <a:spLocks noGrp="1" noChangeArrowheads="1"/>
          </p:cNvSpPr>
          <p:nvPr>
            <p:ph type="ftr" sz="quarter" idx="11"/>
          </p:nvPr>
        </p:nvSpPr>
        <p:spPr>
          <a:ln/>
        </p:spPr>
        <p:txBody>
          <a:bodyPr/>
          <a:lstStyle>
            <a:lvl1pPr>
              <a:defRPr/>
            </a:lvl1pPr>
          </a:lstStyle>
          <a:p>
            <a:pPr>
              <a:defRPr/>
            </a:pPr>
            <a:endParaRPr lang="fi-FI"/>
          </a:p>
        </p:txBody>
      </p:sp>
      <p:sp>
        <p:nvSpPr>
          <p:cNvPr id="6" name="Rectangle 6"/>
          <p:cNvSpPr>
            <a:spLocks noGrp="1" noChangeArrowheads="1"/>
          </p:cNvSpPr>
          <p:nvPr>
            <p:ph type="sldNum" sz="quarter" idx="12"/>
          </p:nvPr>
        </p:nvSpPr>
        <p:spPr>
          <a:ln/>
        </p:spPr>
        <p:txBody>
          <a:bodyPr/>
          <a:lstStyle>
            <a:lvl1pPr>
              <a:defRPr/>
            </a:lvl1pPr>
          </a:lstStyle>
          <a:p>
            <a:fld id="{778C3E68-A40A-4776-9989-B1CDBA933846}" type="slidenum">
              <a:rPr lang="fi-FI" altLang="fi-FI"/>
              <a:pPr/>
              <a:t>‹#›</a:t>
            </a:fld>
            <a:endParaRPr lang="fi-FI" altLang="fi-FI"/>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fi-FI"/>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fi-FI"/>
          </a:p>
        </p:txBody>
      </p:sp>
      <p:sp>
        <p:nvSpPr>
          <p:cNvPr id="4" name="Rectangle 4"/>
          <p:cNvSpPr>
            <a:spLocks noGrp="1" noChangeArrowheads="1"/>
          </p:cNvSpPr>
          <p:nvPr>
            <p:ph type="dt" sz="half" idx="10"/>
          </p:nvPr>
        </p:nvSpPr>
        <p:spPr>
          <a:ln/>
        </p:spPr>
        <p:txBody>
          <a:bodyPr/>
          <a:lstStyle>
            <a:lvl1pPr>
              <a:defRPr/>
            </a:lvl1pPr>
          </a:lstStyle>
          <a:p>
            <a:pPr>
              <a:defRPr/>
            </a:pPr>
            <a:endParaRPr lang="fi-FI"/>
          </a:p>
        </p:txBody>
      </p:sp>
      <p:sp>
        <p:nvSpPr>
          <p:cNvPr id="5" name="Rectangle 5"/>
          <p:cNvSpPr>
            <a:spLocks noGrp="1" noChangeArrowheads="1"/>
          </p:cNvSpPr>
          <p:nvPr>
            <p:ph type="ftr" sz="quarter" idx="11"/>
          </p:nvPr>
        </p:nvSpPr>
        <p:spPr>
          <a:ln/>
        </p:spPr>
        <p:txBody>
          <a:bodyPr/>
          <a:lstStyle>
            <a:lvl1pPr>
              <a:defRPr/>
            </a:lvl1pPr>
          </a:lstStyle>
          <a:p>
            <a:pPr>
              <a:defRPr/>
            </a:pPr>
            <a:endParaRPr lang="fi-FI"/>
          </a:p>
        </p:txBody>
      </p:sp>
      <p:sp>
        <p:nvSpPr>
          <p:cNvPr id="6" name="Rectangle 6"/>
          <p:cNvSpPr>
            <a:spLocks noGrp="1" noChangeArrowheads="1"/>
          </p:cNvSpPr>
          <p:nvPr>
            <p:ph type="sldNum" sz="quarter" idx="12"/>
          </p:nvPr>
        </p:nvSpPr>
        <p:spPr>
          <a:ln/>
        </p:spPr>
        <p:txBody>
          <a:bodyPr/>
          <a:lstStyle>
            <a:lvl1pPr>
              <a:defRPr/>
            </a:lvl1pPr>
          </a:lstStyle>
          <a:p>
            <a:fld id="{23010864-5A9A-4F6E-B47E-CBAE0AB2B938}" type="slidenum">
              <a:rPr lang="fi-FI" altLang="fi-FI"/>
              <a:pPr/>
              <a:t>‹#›</a:t>
            </a:fld>
            <a:endParaRPr lang="fi-FI" altLang="fi-FI"/>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fi-FI" altLang="fi-FI"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fi-FI" altLang="fi-FI" smtClean="0"/>
              <a:t>Click to edit Master text styles</a:t>
            </a:r>
          </a:p>
          <a:p>
            <a:pPr lvl="1"/>
            <a:r>
              <a:rPr lang="fi-FI" altLang="fi-FI" smtClean="0"/>
              <a:t>Second level</a:t>
            </a:r>
          </a:p>
          <a:p>
            <a:pPr lvl="2"/>
            <a:r>
              <a:rPr lang="fi-FI" altLang="fi-FI" smtClean="0"/>
              <a:t>Third level</a:t>
            </a:r>
          </a:p>
          <a:p>
            <a:pPr lvl="3"/>
            <a:r>
              <a:rPr lang="fi-FI" altLang="fi-FI" smtClean="0"/>
              <a:t>Fourth level</a:t>
            </a:r>
          </a:p>
          <a:p>
            <a:pPr lvl="4"/>
            <a:r>
              <a:rPr lang="fi-FI" altLang="fi-FI" smtClean="0"/>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defRPr>
            </a:lvl1pPr>
          </a:lstStyle>
          <a:p>
            <a:pPr>
              <a:defRPr/>
            </a:pPr>
            <a:endParaRPr lang="fi-FI"/>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defRPr>
            </a:lvl1pPr>
          </a:lstStyle>
          <a:p>
            <a:pPr>
              <a:defRPr/>
            </a:pPr>
            <a:endParaRPr lang="fi-FI"/>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4AC76498-EACA-43E9-8480-A445105124D6}" type="slidenum">
              <a:rPr lang="fi-FI" altLang="fi-FI"/>
              <a:pPr/>
              <a:t>‹#›</a:t>
            </a:fld>
            <a:endParaRPr lang="fi-FI" altLang="fi-FI"/>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3200">
          <a:solidFill>
            <a:schemeClr val="tx2"/>
          </a:solidFill>
          <a:latin typeface="+mj-lt"/>
          <a:ea typeface="+mj-ea"/>
          <a:cs typeface="+mj-cs"/>
        </a:defRPr>
      </a:lvl1pPr>
      <a:lvl2pPr algn="ctr" rtl="0" eaLnBrk="0" fontAlgn="base" hangingPunct="0">
        <a:spcBef>
          <a:spcPct val="0"/>
        </a:spcBef>
        <a:spcAft>
          <a:spcPct val="0"/>
        </a:spcAft>
        <a:defRPr sz="3200">
          <a:solidFill>
            <a:schemeClr val="tx2"/>
          </a:solidFill>
          <a:latin typeface="Arial" charset="0"/>
        </a:defRPr>
      </a:lvl2pPr>
      <a:lvl3pPr algn="ctr" rtl="0" eaLnBrk="0" fontAlgn="base" hangingPunct="0">
        <a:spcBef>
          <a:spcPct val="0"/>
        </a:spcBef>
        <a:spcAft>
          <a:spcPct val="0"/>
        </a:spcAft>
        <a:defRPr sz="3200">
          <a:solidFill>
            <a:schemeClr val="tx2"/>
          </a:solidFill>
          <a:latin typeface="Arial" charset="0"/>
        </a:defRPr>
      </a:lvl3pPr>
      <a:lvl4pPr algn="ctr" rtl="0" eaLnBrk="0" fontAlgn="base" hangingPunct="0">
        <a:spcBef>
          <a:spcPct val="0"/>
        </a:spcBef>
        <a:spcAft>
          <a:spcPct val="0"/>
        </a:spcAft>
        <a:defRPr sz="3200">
          <a:solidFill>
            <a:schemeClr val="tx2"/>
          </a:solidFill>
          <a:latin typeface="Arial" charset="0"/>
        </a:defRPr>
      </a:lvl4pPr>
      <a:lvl5pPr algn="ctr" rtl="0" eaLnBrk="0" fontAlgn="base" hangingPunct="0">
        <a:spcBef>
          <a:spcPct val="0"/>
        </a:spcBef>
        <a:spcAft>
          <a:spcPct val="0"/>
        </a:spcAft>
        <a:defRPr sz="32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1600">
          <a:solidFill>
            <a:schemeClr val="tx1"/>
          </a:solidFill>
          <a:latin typeface="+mn-lt"/>
          <a:ea typeface="+mn-ea"/>
          <a:cs typeface="+mn-cs"/>
        </a:defRPr>
      </a:lvl1pPr>
      <a:lvl2pPr marL="742950" indent="-285750" algn="l" rtl="0" eaLnBrk="0" fontAlgn="base" hangingPunct="0">
        <a:spcBef>
          <a:spcPct val="20000"/>
        </a:spcBef>
        <a:spcAft>
          <a:spcPct val="0"/>
        </a:spcAft>
        <a:buChar char="–"/>
        <a:defRPr sz="1600">
          <a:solidFill>
            <a:schemeClr val="tx1"/>
          </a:solidFill>
          <a:latin typeface="+mn-lt"/>
        </a:defRPr>
      </a:lvl2pPr>
      <a:lvl3pPr marL="1143000" indent="-228600" algn="l" rtl="0" eaLnBrk="0" fontAlgn="base" hangingPunct="0">
        <a:spcBef>
          <a:spcPct val="20000"/>
        </a:spcBef>
        <a:spcAft>
          <a:spcPct val="0"/>
        </a:spcAft>
        <a:buChar char="•"/>
        <a:defRPr sz="1600">
          <a:solidFill>
            <a:schemeClr val="tx1"/>
          </a:solidFill>
          <a:latin typeface="+mn-lt"/>
        </a:defRPr>
      </a:lvl3pPr>
      <a:lvl4pPr marL="1600200" indent="-228600" algn="l" rtl="0" eaLnBrk="0" fontAlgn="base" hangingPunct="0">
        <a:spcBef>
          <a:spcPct val="20000"/>
        </a:spcBef>
        <a:spcAft>
          <a:spcPct val="0"/>
        </a:spcAft>
        <a:buChar char="–"/>
        <a:defRPr sz="1600">
          <a:solidFill>
            <a:schemeClr val="tx1"/>
          </a:solidFill>
          <a:latin typeface="+mn-lt"/>
        </a:defRPr>
      </a:lvl4pPr>
      <a:lvl5pPr marL="2057400" indent="-228600" algn="l" rtl="0" eaLnBrk="0" fontAlgn="base" hangingPunct="0">
        <a:spcBef>
          <a:spcPct val="20000"/>
        </a:spcBef>
        <a:spcAft>
          <a:spcPct val="0"/>
        </a:spcAft>
        <a:buChar char="»"/>
        <a:defRPr sz="16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fi-FI"/>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os.mbed.com/teams/ST/"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platformio.org/" TargetMode="External"/><Relationship Id="rId2" Type="http://schemas.openxmlformats.org/officeDocument/2006/relationships/hyperlink" Target="https://www.arduino.cc/en/software"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www.st.com/en/development-tools/stsw-link009.html" TargetMode="External"/><Relationship Id="rId2" Type="http://schemas.openxmlformats.org/officeDocument/2006/relationships/hyperlink" Target="https://www.st.com/en/development-tools/stm32cubemx.html" TargetMode="External"/><Relationship Id="rId1" Type="http://schemas.openxmlformats.org/officeDocument/2006/relationships/slideLayout" Target="../slideLayouts/slideLayout2.xml"/><Relationship Id="rId5" Type="http://schemas.openxmlformats.org/officeDocument/2006/relationships/hyperlink" Target="https://www.st.com/en/development-tools/stm32cubeide.html" TargetMode="External"/><Relationship Id="rId4" Type="http://schemas.openxmlformats.org/officeDocument/2006/relationships/hyperlink" Target="https://www.st.com/en/development-tools/stsw-link007.html"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os.mbed.com/users/hudakz/code/STM32F103C8T6_Hello/" TargetMode="External"/><Relationship Id="rId2" Type="http://schemas.openxmlformats.org/officeDocument/2006/relationships/hyperlink" Target="https://os.mbed.com/teams/ST/wiki/steps-to-create-a-new-STM32-platform" TargetMode="External"/><Relationship Id="rId1" Type="http://schemas.openxmlformats.org/officeDocument/2006/relationships/slideLayout" Target="../slideLayouts/slideLayout2.xml"/><Relationship Id="rId4" Type="http://schemas.openxmlformats.org/officeDocument/2006/relationships/hyperlink" Target="https://os.mbed.com/users/hudakz/code/MapleMini_Hello/"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www.emcu.eu/how-to-implement-printf-for-send-message-via-usb-on-stm32-nucleo-boards/"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Title 1"/>
          <p:cNvSpPr>
            <a:spLocks noGrp="1"/>
          </p:cNvSpPr>
          <p:nvPr>
            <p:ph type="title"/>
          </p:nvPr>
        </p:nvSpPr>
        <p:spPr>
          <a:xfrm>
            <a:off x="395288" y="2564904"/>
            <a:ext cx="8229600" cy="1359396"/>
          </a:xfrm>
        </p:spPr>
        <p:txBody>
          <a:bodyPr/>
          <a:lstStyle/>
          <a:p>
            <a:r>
              <a:rPr lang="en-US" altLang="fi-FI" b="1" dirty="0" smtClean="0"/>
              <a:t>Embedded Systems Project (521423S)</a:t>
            </a:r>
            <a:br>
              <a:rPr lang="en-US" altLang="fi-FI" b="1" dirty="0" smtClean="0"/>
            </a:br>
            <a:r>
              <a:rPr lang="en-US" altLang="fi-FI" b="1" dirty="0" smtClean="0"/>
              <a:t>-</a:t>
            </a:r>
            <a:br>
              <a:rPr lang="en-US" altLang="fi-FI" b="1" dirty="0" smtClean="0"/>
            </a:br>
            <a:r>
              <a:rPr lang="it-IT" altLang="fi-FI" dirty="0" smtClean="0"/>
              <a:t> Software</a:t>
            </a:r>
            <a:endParaRPr lang="en-US" altLang="fi-FI" dirty="0" smtClean="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484917"/>
            <a:ext cx="4457402" cy="4320951"/>
          </a:xfrm>
          <a:prstGeom prst="rect">
            <a:avLst/>
          </a:prstGeom>
        </p:spPr>
      </p:pic>
      <p:sp>
        <p:nvSpPr>
          <p:cNvPr id="4098" name="Title 1"/>
          <p:cNvSpPr>
            <a:spLocks noGrp="1"/>
          </p:cNvSpPr>
          <p:nvPr>
            <p:ph type="title"/>
          </p:nvPr>
        </p:nvSpPr>
        <p:spPr/>
        <p:txBody>
          <a:bodyPr/>
          <a:lstStyle/>
          <a:p>
            <a:r>
              <a:rPr lang="en-US" altLang="fi-FI" b="1" smtClean="0"/>
              <a:t>Design phases</a:t>
            </a:r>
          </a:p>
        </p:txBody>
      </p:sp>
      <p:sp>
        <p:nvSpPr>
          <p:cNvPr id="4099" name="Content Placeholder 2"/>
          <p:cNvSpPr>
            <a:spLocks noGrp="1"/>
          </p:cNvSpPr>
          <p:nvPr>
            <p:ph idx="1"/>
          </p:nvPr>
        </p:nvSpPr>
        <p:spPr>
          <a:xfrm>
            <a:off x="5076825" y="1484313"/>
            <a:ext cx="3970338" cy="4525962"/>
          </a:xfrm>
        </p:spPr>
        <p:txBody>
          <a:bodyPr/>
          <a:lstStyle/>
          <a:p>
            <a:pPr marL="457200" indent="-457200">
              <a:buFontTx/>
              <a:buNone/>
            </a:pPr>
            <a:r>
              <a:rPr lang="en-US" altLang="fi-FI" sz="1600" dirty="0" smtClean="0"/>
              <a:t>In practice:</a:t>
            </a:r>
          </a:p>
          <a:p>
            <a:pPr marL="457200" indent="-457200">
              <a:buFontTx/>
              <a:buAutoNum type="arabicPeriod"/>
            </a:pPr>
            <a:r>
              <a:rPr lang="en-US" altLang="fi-FI" sz="1600" dirty="0" smtClean="0"/>
              <a:t>Requirement specification, Technical specification, test plan, Schedule</a:t>
            </a:r>
            <a:br>
              <a:rPr lang="en-US" altLang="fi-FI" sz="1600" dirty="0" smtClean="0"/>
            </a:br>
            <a:endParaRPr lang="en-US" altLang="fi-FI" sz="1600" dirty="0" smtClean="0"/>
          </a:p>
          <a:p>
            <a:pPr marL="457200" indent="-457200">
              <a:buFontTx/>
              <a:buAutoNum type="arabicPeriod"/>
            </a:pPr>
            <a:r>
              <a:rPr lang="en-US" altLang="fi-FI" sz="1600" dirty="0" smtClean="0"/>
              <a:t>Schematics, component ordering</a:t>
            </a:r>
            <a:br>
              <a:rPr lang="en-US" altLang="fi-FI" sz="1600" dirty="0" smtClean="0"/>
            </a:br>
            <a:endParaRPr lang="en-US" altLang="fi-FI" sz="1600" dirty="0" smtClean="0"/>
          </a:p>
          <a:p>
            <a:pPr marL="457200" indent="-457200">
              <a:buFontTx/>
              <a:buAutoNum type="arabicPeriod"/>
            </a:pPr>
            <a:r>
              <a:rPr lang="en-US" altLang="fi-FI" sz="1600" dirty="0" smtClean="0"/>
              <a:t>Layout and manufacturing files, PCB ordering</a:t>
            </a:r>
            <a:br>
              <a:rPr lang="en-US" altLang="fi-FI" sz="1600" dirty="0" smtClean="0"/>
            </a:br>
            <a:endParaRPr lang="en-US" altLang="fi-FI" sz="1600" dirty="0" smtClean="0"/>
          </a:p>
          <a:p>
            <a:pPr marL="457200" indent="-457200">
              <a:buFontTx/>
              <a:buAutoNum type="arabicPeriod"/>
            </a:pPr>
            <a:r>
              <a:rPr lang="en-US" altLang="fi-FI" sz="1600" dirty="0" smtClean="0"/>
              <a:t>Populating the board and electrical testing</a:t>
            </a:r>
            <a:br>
              <a:rPr lang="en-US" altLang="fi-FI" sz="1600" dirty="0" smtClean="0"/>
            </a:br>
            <a:endParaRPr lang="en-US" altLang="fi-FI" sz="1600" dirty="0" smtClean="0"/>
          </a:p>
          <a:p>
            <a:pPr marL="457200" indent="-457200">
              <a:buFontTx/>
              <a:buAutoNum type="arabicPeriod"/>
            </a:pPr>
            <a:r>
              <a:rPr lang="en-US" altLang="fi-FI" sz="1600" dirty="0" smtClean="0"/>
              <a:t>Programming software and testing</a:t>
            </a:r>
            <a:br>
              <a:rPr lang="en-US" altLang="fi-FI" sz="1600" dirty="0" smtClean="0"/>
            </a:br>
            <a:endParaRPr lang="en-US" altLang="fi-FI" sz="1600" dirty="0" smtClean="0"/>
          </a:p>
          <a:p>
            <a:pPr marL="457200" indent="-457200">
              <a:buFontTx/>
              <a:buAutoNum type="arabicPeriod"/>
            </a:pPr>
            <a:r>
              <a:rPr lang="en-US" altLang="fi-FI" sz="1600" dirty="0" smtClean="0"/>
              <a:t>Final demonstration and Final report</a:t>
            </a:r>
          </a:p>
        </p:txBody>
      </p:sp>
      <p:sp>
        <p:nvSpPr>
          <p:cNvPr id="5" name="Oval 4"/>
          <p:cNvSpPr/>
          <p:nvPr/>
        </p:nvSpPr>
        <p:spPr>
          <a:xfrm>
            <a:off x="2685901" y="2565508"/>
            <a:ext cx="936104" cy="3240360"/>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6" name="Oval 5"/>
          <p:cNvSpPr/>
          <p:nvPr/>
        </p:nvSpPr>
        <p:spPr>
          <a:xfrm>
            <a:off x="4644008" y="4437112"/>
            <a:ext cx="4499992" cy="724809"/>
          </a:xfrm>
          <a:prstGeom prst="ellipse">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1143000"/>
          </a:xfrm>
        </p:spPr>
        <p:txBody>
          <a:bodyPr/>
          <a:lstStyle/>
          <a:p>
            <a:r>
              <a:rPr lang="en-US" dirty="0" smtClean="0"/>
              <a:t>Getting started</a:t>
            </a:r>
            <a:endParaRPr lang="en-US" dirty="0"/>
          </a:p>
        </p:txBody>
      </p:sp>
      <p:sp>
        <p:nvSpPr>
          <p:cNvPr id="3" name="Content Placeholder 2"/>
          <p:cNvSpPr>
            <a:spLocks noGrp="1"/>
          </p:cNvSpPr>
          <p:nvPr>
            <p:ph idx="1"/>
          </p:nvPr>
        </p:nvSpPr>
        <p:spPr>
          <a:xfrm>
            <a:off x="395536" y="1268760"/>
            <a:ext cx="8229600" cy="5256584"/>
          </a:xfrm>
        </p:spPr>
        <p:txBody>
          <a:bodyPr/>
          <a:lstStyle/>
          <a:p>
            <a:r>
              <a:rPr lang="en-US" dirty="0" smtClean="0"/>
              <a:t>Absolutely make sure that there are no short / open circuits on your PCB.</a:t>
            </a:r>
          </a:p>
          <a:p>
            <a:r>
              <a:rPr lang="en-US" dirty="0" smtClean="0"/>
              <a:t>First, only power on the essential hardware on your device, with a current limit set on your PSU (according to what you estimate your max. consumption is). If nothing smokes, it is a start at least.</a:t>
            </a:r>
          </a:p>
          <a:p>
            <a:r>
              <a:rPr lang="en-US" dirty="0" smtClean="0"/>
              <a:t>Double and triple check that your JTAG / SWD, USB, or other programming interface, and UART connections to your system are correct.</a:t>
            </a:r>
          </a:p>
          <a:p>
            <a:pPr lvl="1"/>
            <a:r>
              <a:rPr lang="en-US" dirty="0" smtClean="0"/>
              <a:t>Some dev-kits may have schematics available, could be used as reference if you have MCU on your own custom board.</a:t>
            </a:r>
          </a:p>
          <a:p>
            <a:r>
              <a:rPr lang="en-US" dirty="0" smtClean="0"/>
              <a:t>In some cases, your programmer might need to manipulate the reset wire</a:t>
            </a:r>
          </a:p>
          <a:p>
            <a:pPr lvl="1"/>
            <a:r>
              <a:rPr lang="en-US" dirty="0" smtClean="0"/>
              <a:t>For example, if accidentally some conflicting functionality affecting the programming pins is enabled, programmer may need to do things using the reset signal to recover programming access.</a:t>
            </a:r>
          </a:p>
        </p:txBody>
      </p:sp>
    </p:spTree>
    <p:extLst>
      <p:ext uri="{BB962C8B-B14F-4D97-AF65-F5344CB8AC3E}">
        <p14:creationId xmlns:p14="http://schemas.microsoft.com/office/powerpoint/2010/main" val="4269625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1143000"/>
          </a:xfrm>
        </p:spPr>
        <p:txBody>
          <a:bodyPr/>
          <a:lstStyle/>
          <a:p>
            <a:r>
              <a:rPr lang="en-US" dirty="0" smtClean="0"/>
              <a:t>Getting started, programming HW</a:t>
            </a:r>
            <a:endParaRPr lang="en-US" dirty="0"/>
          </a:p>
        </p:txBody>
      </p:sp>
      <p:sp>
        <p:nvSpPr>
          <p:cNvPr id="3" name="Content Placeholder 2"/>
          <p:cNvSpPr>
            <a:spLocks noGrp="1"/>
          </p:cNvSpPr>
          <p:nvPr>
            <p:ph idx="1"/>
          </p:nvPr>
        </p:nvSpPr>
        <p:spPr>
          <a:xfrm>
            <a:off x="395536" y="1143000"/>
            <a:ext cx="8229600" cy="5382344"/>
          </a:xfrm>
        </p:spPr>
        <p:txBody>
          <a:bodyPr/>
          <a:lstStyle/>
          <a:p>
            <a:r>
              <a:rPr lang="en-US" dirty="0" err="1" smtClean="0"/>
              <a:t>Nucleo</a:t>
            </a:r>
            <a:r>
              <a:rPr lang="en-US" dirty="0" smtClean="0"/>
              <a:t> dev-kits with integrated ST-Link/V2 can be borrowed from us.</a:t>
            </a:r>
          </a:p>
          <a:p>
            <a:r>
              <a:rPr lang="en-US" dirty="0" smtClean="0"/>
              <a:t>ESP32 dev-kits rely on internal JTAG of the MCU via USB data lines, or it can be programmed through USB-UART bridge</a:t>
            </a:r>
          </a:p>
          <a:p>
            <a:r>
              <a:rPr lang="en-US" dirty="0" smtClean="0"/>
              <a:t>If your MCU is integrated to your board, a USB-UART converter, or other type of programmer may be required depending on the MCU.</a:t>
            </a:r>
          </a:p>
          <a:p>
            <a:r>
              <a:rPr lang="en-US" dirty="0" smtClean="0"/>
              <a:t>Some dev-kits can be used to program external MCUs as well, if you have chosen to make your own fully custom board</a:t>
            </a:r>
          </a:p>
          <a:p>
            <a:pPr lvl="1"/>
            <a:r>
              <a:rPr lang="en-US" dirty="0" smtClean="0"/>
              <a:t>We have some </a:t>
            </a:r>
            <a:r>
              <a:rPr lang="en-US" dirty="0" err="1" smtClean="0"/>
              <a:t>Nucleo</a:t>
            </a:r>
            <a:r>
              <a:rPr lang="en-US" dirty="0" smtClean="0"/>
              <a:t> dev-kits that may be borrowed also for programming your own boards, with the ST-Link/V2 programmer integrated to those.</a:t>
            </a:r>
          </a:p>
          <a:p>
            <a:pPr lvl="1"/>
            <a:r>
              <a:rPr lang="en-US" dirty="0" smtClean="0"/>
              <a:t>ESP32 dev-kit could be used as a bridge for programming.</a:t>
            </a:r>
          </a:p>
          <a:p>
            <a:pPr lvl="1"/>
            <a:r>
              <a:rPr lang="en-US" dirty="0"/>
              <a:t>We might also have a couple of old Atmel / Microchip ICE Basic kits available, but not guaranteed</a:t>
            </a:r>
            <a:r>
              <a:rPr lang="en-US" dirty="0" smtClean="0"/>
              <a:t>.</a:t>
            </a:r>
          </a:p>
          <a:p>
            <a:r>
              <a:rPr lang="en-US" dirty="0" smtClean="0"/>
              <a:t>In other cases, you are pretty much on your own.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692696"/>
          </a:xfrm>
        </p:spPr>
        <p:txBody>
          <a:bodyPr/>
          <a:lstStyle/>
          <a:p>
            <a:r>
              <a:rPr lang="en-US" dirty="0" smtClean="0"/>
              <a:t>Software design tips</a:t>
            </a:r>
            <a:endParaRPr lang="en-US" dirty="0"/>
          </a:p>
        </p:txBody>
      </p:sp>
      <p:sp>
        <p:nvSpPr>
          <p:cNvPr id="4" name="Content Placeholder 2"/>
          <p:cNvSpPr>
            <a:spLocks noGrp="1"/>
          </p:cNvSpPr>
          <p:nvPr>
            <p:ph idx="1"/>
          </p:nvPr>
        </p:nvSpPr>
        <p:spPr>
          <a:xfrm>
            <a:off x="395536" y="692696"/>
            <a:ext cx="8229600" cy="5976664"/>
          </a:xfrm>
        </p:spPr>
        <p:txBody>
          <a:bodyPr/>
          <a:lstStyle/>
          <a:p>
            <a:r>
              <a:rPr lang="en-US" dirty="0" smtClean="0"/>
              <a:t>Generally, use C or C++</a:t>
            </a:r>
          </a:p>
          <a:p>
            <a:pPr lvl="1"/>
            <a:r>
              <a:rPr lang="en-US" dirty="0" smtClean="0"/>
              <a:t>In this course, Assembly is very unlikely to be required, but typically it would be used for very critical computational / timing critical parts. However, compilers are pretty good at optimizing nowadays.</a:t>
            </a:r>
          </a:p>
          <a:p>
            <a:pPr lvl="1"/>
            <a:r>
              <a:rPr lang="en-US" dirty="0" smtClean="0"/>
              <a:t>Other languages are allowed, but may not be supported by us.</a:t>
            </a:r>
          </a:p>
          <a:p>
            <a:r>
              <a:rPr lang="en-US" dirty="0" smtClean="0"/>
              <a:t>For documentation, create block diagrams of the main components and how they exchange information (i.e. data structures, algorithm interconnections, etc.)</a:t>
            </a:r>
          </a:p>
          <a:p>
            <a:r>
              <a:rPr lang="en-US" dirty="0"/>
              <a:t>Design </a:t>
            </a:r>
            <a:r>
              <a:rPr lang="en-US" dirty="0" smtClean="0"/>
              <a:t>the SW </a:t>
            </a:r>
            <a:r>
              <a:rPr lang="en-US" dirty="0"/>
              <a:t>timing, like how many times </a:t>
            </a:r>
            <a:r>
              <a:rPr lang="en-US" dirty="0" smtClean="0"/>
              <a:t>a </a:t>
            </a:r>
            <a:r>
              <a:rPr lang="en-US" dirty="0"/>
              <a:t>second something </a:t>
            </a:r>
            <a:r>
              <a:rPr lang="en-US" dirty="0" smtClean="0"/>
              <a:t>needs to be </a:t>
            </a:r>
            <a:r>
              <a:rPr lang="en-US" dirty="0"/>
              <a:t>done</a:t>
            </a:r>
          </a:p>
          <a:p>
            <a:pPr lvl="1"/>
            <a:r>
              <a:rPr lang="en-US" dirty="0" smtClean="0"/>
              <a:t>Setup and handle the required interrupts (callback functions &amp; data synchronization)</a:t>
            </a:r>
          </a:p>
          <a:p>
            <a:pPr lvl="2"/>
            <a:r>
              <a:rPr lang="en-US" dirty="0"/>
              <a:t>I</a:t>
            </a:r>
            <a:r>
              <a:rPr lang="en-US" dirty="0" smtClean="0"/>
              <a:t>f your dynamic variables are used in multiple locations of your code, synchronize when the new values are updated safely without chances of corruption.</a:t>
            </a:r>
          </a:p>
          <a:p>
            <a:pPr lvl="1"/>
            <a:r>
              <a:rPr lang="en-US" dirty="0" smtClean="0"/>
              <a:t>If you are polling data, take care of avoiding deadlocks and a waste of computing time.</a:t>
            </a:r>
          </a:p>
          <a:p>
            <a:pPr eaLnBrk="1" hangingPunct="1">
              <a:lnSpc>
                <a:spcPct val="80000"/>
              </a:lnSpc>
              <a:buFontTx/>
              <a:buNone/>
            </a:pPr>
            <a:endParaRPr lang="en-US" sz="1600" dirty="0" smtClean="0"/>
          </a:p>
        </p:txBody>
      </p:sp>
    </p:spTree>
    <p:extLst>
      <p:ext uri="{BB962C8B-B14F-4D97-AF65-F5344CB8AC3E}">
        <p14:creationId xmlns:p14="http://schemas.microsoft.com/office/powerpoint/2010/main" val="27867932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764704"/>
          </a:xfrm>
        </p:spPr>
        <p:txBody>
          <a:bodyPr/>
          <a:lstStyle/>
          <a:p>
            <a:r>
              <a:rPr lang="en-US" dirty="0" smtClean="0"/>
              <a:t>Software design tips</a:t>
            </a:r>
            <a:endParaRPr lang="en-US" dirty="0"/>
          </a:p>
        </p:txBody>
      </p:sp>
      <p:sp>
        <p:nvSpPr>
          <p:cNvPr id="4" name="Content Placeholder 2"/>
          <p:cNvSpPr>
            <a:spLocks noGrp="1"/>
          </p:cNvSpPr>
          <p:nvPr>
            <p:ph idx="1"/>
          </p:nvPr>
        </p:nvSpPr>
        <p:spPr>
          <a:xfrm>
            <a:off x="395536" y="764704"/>
            <a:ext cx="8229600" cy="5616624"/>
          </a:xfrm>
        </p:spPr>
        <p:txBody>
          <a:bodyPr/>
          <a:lstStyle/>
          <a:p>
            <a:r>
              <a:rPr lang="en-US" dirty="0" smtClean="0"/>
              <a:t>Read through the MCU datasheet and “cookbooks” for the parts you will be needing from the hardware</a:t>
            </a:r>
          </a:p>
          <a:p>
            <a:pPr lvl="1"/>
            <a:r>
              <a:rPr lang="en-US" dirty="0" smtClean="0"/>
              <a:t>For example: initializing timers and their counting modes, PWM generation, ADC/DAC, etc., and </a:t>
            </a:r>
            <a:r>
              <a:rPr lang="en-US" dirty="0"/>
              <a:t>using their </a:t>
            </a:r>
            <a:r>
              <a:rPr lang="en-US" dirty="0" smtClean="0"/>
              <a:t>registers.</a:t>
            </a:r>
          </a:p>
          <a:p>
            <a:r>
              <a:rPr lang="en-US" dirty="0" smtClean="0"/>
              <a:t>First tests are usually for seeing that connections and buses on the board are working</a:t>
            </a:r>
          </a:p>
          <a:p>
            <a:pPr lvl="1"/>
            <a:r>
              <a:rPr lang="en-US" dirty="0" smtClean="0"/>
              <a:t>Blinking LEDs, testing communications of I2C, SPI, UART,…</a:t>
            </a:r>
          </a:p>
          <a:p>
            <a:r>
              <a:rPr lang="en-US" dirty="0" smtClean="0"/>
              <a:t>See how debug information can be read from the device</a:t>
            </a:r>
          </a:p>
          <a:p>
            <a:pPr lvl="1"/>
            <a:r>
              <a:rPr lang="en-US" dirty="0" smtClean="0"/>
              <a:t>For most ESP32 / STM32 dev-kits today, usually it is possible to at least “</a:t>
            </a:r>
            <a:r>
              <a:rPr lang="en-US" dirty="0" err="1" smtClean="0"/>
              <a:t>printf</a:t>
            </a:r>
            <a:r>
              <a:rPr lang="en-US" dirty="0" smtClean="0"/>
              <a:t>” stuff out in your terminal, over a virtual COM port if using USB for programming / debugging.</a:t>
            </a:r>
          </a:p>
          <a:p>
            <a:pPr lvl="1"/>
            <a:r>
              <a:rPr lang="en-US" dirty="0" smtClean="0"/>
              <a:t>In some cases, printing debug text out through the debug link may not be possible, so keep an additional UART port available on your device as an option</a:t>
            </a:r>
            <a:r>
              <a:rPr lang="en-FI" dirty="0" smtClean="0"/>
              <a:t>…</a:t>
            </a:r>
            <a:endParaRPr lang="en-US" dirty="0" smtClean="0"/>
          </a:p>
          <a:p>
            <a:r>
              <a:rPr lang="en-US" dirty="0"/>
              <a:t>Initially, </a:t>
            </a:r>
            <a:r>
              <a:rPr lang="en-US" dirty="0" smtClean="0"/>
              <a:t>plan and write simple testing </a:t>
            </a:r>
            <a:r>
              <a:rPr lang="en-US" dirty="0"/>
              <a:t>routines for verifying that each </a:t>
            </a:r>
            <a:r>
              <a:rPr lang="en-US" dirty="0" smtClean="0"/>
              <a:t>software and hardware </a:t>
            </a:r>
            <a:r>
              <a:rPr lang="en-US" dirty="0"/>
              <a:t>component is working </a:t>
            </a:r>
            <a:r>
              <a:rPr lang="en-US" dirty="0" smtClean="0"/>
              <a:t>correctly.</a:t>
            </a:r>
            <a:endParaRPr lang="en-US" dirty="0"/>
          </a:p>
          <a:p>
            <a:endParaRPr lang="en-US" dirty="0" smtClean="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288032"/>
          </a:xfrm>
        </p:spPr>
        <p:txBody>
          <a:bodyPr/>
          <a:lstStyle/>
          <a:p>
            <a:r>
              <a:rPr lang="en-US" dirty="0" smtClean="0"/>
              <a:t>Files and modules</a:t>
            </a:r>
            <a:endParaRPr lang="en-US" dirty="0"/>
          </a:p>
        </p:txBody>
      </p:sp>
      <p:sp>
        <p:nvSpPr>
          <p:cNvPr id="3" name="Content Placeholder 2"/>
          <p:cNvSpPr>
            <a:spLocks noGrp="1"/>
          </p:cNvSpPr>
          <p:nvPr>
            <p:ph idx="1"/>
          </p:nvPr>
        </p:nvSpPr>
        <p:spPr>
          <a:xfrm>
            <a:off x="457200" y="764704"/>
            <a:ext cx="8229600" cy="5832648"/>
          </a:xfrm>
        </p:spPr>
        <p:txBody>
          <a:bodyPr/>
          <a:lstStyle/>
          <a:p>
            <a:r>
              <a:rPr lang="en-US" dirty="0" smtClean="0"/>
              <a:t>Split software to modules, each module to its own file</a:t>
            </a:r>
          </a:p>
          <a:p>
            <a:pPr lvl="1"/>
            <a:r>
              <a:rPr lang="en-US" dirty="0" smtClean="0"/>
              <a:t>For example </a:t>
            </a:r>
            <a:r>
              <a:rPr lang="en-US" dirty="0" err="1" smtClean="0"/>
              <a:t>SPI.c</a:t>
            </a:r>
            <a:r>
              <a:rPr lang="en-US" dirty="0" smtClean="0"/>
              <a:t>, I2C.c, </a:t>
            </a:r>
            <a:r>
              <a:rPr lang="en-US" dirty="0" err="1" smtClean="0"/>
              <a:t>X_sensor.c</a:t>
            </a:r>
            <a:r>
              <a:rPr lang="en-US" dirty="0" smtClean="0"/>
              <a:t>, etc.</a:t>
            </a:r>
          </a:p>
          <a:p>
            <a:r>
              <a:rPr lang="en-US" dirty="0" smtClean="0"/>
              <a:t>Name functions, variables, and parameters descriptively, like </a:t>
            </a:r>
            <a:r>
              <a:rPr lang="en-US" dirty="0" err="1" smtClean="0"/>
              <a:t>SPI_init</a:t>
            </a:r>
            <a:r>
              <a:rPr lang="en-US" dirty="0" smtClean="0"/>
              <a:t>(), </a:t>
            </a:r>
            <a:r>
              <a:rPr lang="en-US" dirty="0" err="1" smtClean="0"/>
              <a:t>SPI_transfer</a:t>
            </a:r>
            <a:r>
              <a:rPr lang="en-US" dirty="0" smtClean="0"/>
              <a:t>(uint8 *</a:t>
            </a:r>
            <a:r>
              <a:rPr lang="en-US" dirty="0" err="1" smtClean="0"/>
              <a:t>send_bytes</a:t>
            </a:r>
            <a:r>
              <a:rPr lang="en-US" dirty="0"/>
              <a:t>, </a:t>
            </a:r>
            <a:r>
              <a:rPr lang="en-US" dirty="0" smtClean="0"/>
              <a:t>uint8 *</a:t>
            </a:r>
            <a:r>
              <a:rPr lang="en-US" dirty="0" err="1"/>
              <a:t>receive_bytes</a:t>
            </a:r>
            <a:r>
              <a:rPr lang="en-US" dirty="0" smtClean="0"/>
              <a:t>), …</a:t>
            </a:r>
          </a:p>
          <a:p>
            <a:r>
              <a:rPr lang="en-US" dirty="0" err="1" smtClean="0"/>
              <a:t>main.c</a:t>
            </a:r>
            <a:r>
              <a:rPr lang="en-US" dirty="0" smtClean="0"/>
              <a:t> should contain only high level function calls, and main state machine could be included in the main loop, if it is simple</a:t>
            </a:r>
          </a:p>
          <a:p>
            <a:r>
              <a:rPr lang="en-US" dirty="0" smtClean="0"/>
              <a:t>While creating functions, </a:t>
            </a:r>
            <a:r>
              <a:rPr lang="en-US" dirty="0" smtClean="0"/>
              <a:t>briefly describe </a:t>
            </a:r>
            <a:r>
              <a:rPr lang="en-US" dirty="0" smtClean="0"/>
              <a:t>the operations implemented in the code sections with comments </a:t>
            </a:r>
          </a:p>
          <a:p>
            <a:pPr lvl="1"/>
            <a:r>
              <a:rPr lang="en-US" dirty="0" smtClean="0"/>
              <a:t>Try to document while you code, when you still remember what each part does</a:t>
            </a:r>
            <a:r>
              <a:rPr lang="en-FI" dirty="0" smtClean="0"/>
              <a:t>…</a:t>
            </a:r>
            <a:endParaRPr lang="en-US" dirty="0" smtClean="0"/>
          </a:p>
          <a:p>
            <a:pPr lvl="1"/>
            <a:r>
              <a:rPr lang="en-US" dirty="0" smtClean="0"/>
              <a:t>Anyone should be easily able to understand what at least your functions / methods do, based on your comments.</a:t>
            </a:r>
          </a:p>
          <a:p>
            <a:pPr lvl="1"/>
            <a:r>
              <a:rPr lang="en-US" dirty="0" smtClean="0"/>
              <a:t>There also exists some tools, like </a:t>
            </a:r>
            <a:r>
              <a:rPr lang="en-US" dirty="0" err="1" smtClean="0"/>
              <a:t>Doxygen</a:t>
            </a:r>
            <a:r>
              <a:rPr lang="en-US" dirty="0" smtClean="0"/>
              <a:t>, that may help documenting your code, at least to add standardized comments.</a:t>
            </a:r>
          </a:p>
          <a:p>
            <a:pPr lvl="2"/>
            <a:r>
              <a:rPr lang="en-US" dirty="0" smtClean="0"/>
              <a:t>Some IDEs provide ability to add standard comment blocks.</a:t>
            </a:r>
          </a:p>
          <a:p>
            <a:pPr lvl="1"/>
            <a:r>
              <a:rPr lang="en-US" dirty="0" smtClean="0"/>
              <a:t>At least try to keep the documentation blocks consistent, describing each parameter, return values, and functions.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432048"/>
          </a:xfrm>
        </p:spPr>
        <p:txBody>
          <a:bodyPr/>
          <a:lstStyle/>
          <a:p>
            <a:r>
              <a:rPr lang="en-US" dirty="0" smtClean="0"/>
              <a:t>Some more general tips</a:t>
            </a:r>
            <a:endParaRPr lang="en-US" dirty="0"/>
          </a:p>
        </p:txBody>
      </p:sp>
      <p:sp>
        <p:nvSpPr>
          <p:cNvPr id="3" name="Content Placeholder 2"/>
          <p:cNvSpPr>
            <a:spLocks noGrp="1"/>
          </p:cNvSpPr>
          <p:nvPr>
            <p:ph idx="1"/>
          </p:nvPr>
        </p:nvSpPr>
        <p:spPr>
          <a:xfrm>
            <a:off x="457200" y="836712"/>
            <a:ext cx="8229600" cy="5760640"/>
          </a:xfrm>
        </p:spPr>
        <p:txBody>
          <a:bodyPr/>
          <a:lstStyle/>
          <a:p>
            <a:r>
              <a:rPr lang="en-US" dirty="0" smtClean="0"/>
              <a:t>Don’t write functions and algorithms that are very long and / or look obfuscated / hacky. The code should be easily reviewable.</a:t>
            </a:r>
          </a:p>
          <a:p>
            <a:r>
              <a:rPr lang="en-US" dirty="0" smtClean="0"/>
              <a:t>Use structures and pointers in passing and handling groups of data instead of huge amounts of separate variables and values.</a:t>
            </a:r>
          </a:p>
          <a:p>
            <a:pPr lvl="1"/>
            <a:r>
              <a:rPr lang="en-US" dirty="0" smtClean="0"/>
              <a:t>Using pointers is generally more memory efficient; less memory and processor time is used when values do not need to be copied or replicated during calls.</a:t>
            </a:r>
          </a:p>
          <a:p>
            <a:pPr lvl="2"/>
            <a:r>
              <a:rPr lang="en-US" dirty="0" smtClean="0"/>
              <a:t>Can result in all sorts of issues if not done properly though.</a:t>
            </a:r>
          </a:p>
          <a:p>
            <a:pPr lvl="2"/>
            <a:r>
              <a:rPr lang="en-US" dirty="0" smtClean="0"/>
              <a:t>Probably in this work not the main concern, if not experienced in coding.</a:t>
            </a:r>
          </a:p>
          <a:p>
            <a:r>
              <a:rPr lang="en-US" dirty="0" smtClean="0"/>
              <a:t>If weirdness is seen during debug, use volatile declarations to prevent compiler from optimizing certain pointers / variables</a:t>
            </a:r>
          </a:p>
          <a:p>
            <a:pPr lvl="1"/>
            <a:r>
              <a:rPr lang="en-US" dirty="0" smtClean="0"/>
              <a:t>Also, see how to setup the debug options in your chosen compiler and IDE, if needed.</a:t>
            </a:r>
          </a:p>
          <a:p>
            <a:pPr lvl="1"/>
            <a:r>
              <a:rPr lang="en-US" dirty="0" smtClean="0"/>
              <a:t>Outputting text &amp; values through UART can help debugging in some cases, where the code might be optimized in a way that is otherwise difficult to follow in a debugger.</a:t>
            </a:r>
          </a:p>
        </p:txBody>
      </p:sp>
    </p:spTree>
    <p:extLst>
      <p:ext uri="{BB962C8B-B14F-4D97-AF65-F5344CB8AC3E}">
        <p14:creationId xmlns:p14="http://schemas.microsoft.com/office/powerpoint/2010/main" val="5855541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1143000"/>
          </a:xfrm>
        </p:spPr>
        <p:txBody>
          <a:bodyPr/>
          <a:lstStyle/>
          <a:p>
            <a:r>
              <a:rPr lang="en-US" dirty="0"/>
              <a:t>Some more general tips</a:t>
            </a:r>
          </a:p>
        </p:txBody>
      </p:sp>
      <p:sp>
        <p:nvSpPr>
          <p:cNvPr id="3" name="Content Placeholder 2"/>
          <p:cNvSpPr>
            <a:spLocks noGrp="1"/>
          </p:cNvSpPr>
          <p:nvPr>
            <p:ph idx="1"/>
          </p:nvPr>
        </p:nvSpPr>
        <p:spPr>
          <a:xfrm>
            <a:off x="467544" y="1268760"/>
            <a:ext cx="8229600" cy="5184576"/>
          </a:xfrm>
        </p:spPr>
        <p:txBody>
          <a:bodyPr/>
          <a:lstStyle/>
          <a:p>
            <a:r>
              <a:rPr lang="en-US" dirty="0" smtClean="0"/>
              <a:t>Code examples can be found from:</a:t>
            </a:r>
          </a:p>
          <a:p>
            <a:pPr lvl="1"/>
            <a:r>
              <a:rPr lang="en-US" dirty="0" smtClean="0"/>
              <a:t>Application notes / drivers from MCU / component manufacturer.</a:t>
            </a:r>
          </a:p>
          <a:p>
            <a:pPr lvl="1"/>
            <a:r>
              <a:rPr lang="en-US" dirty="0" smtClean="0"/>
              <a:t>Open-source libraries / functions.</a:t>
            </a:r>
          </a:p>
          <a:p>
            <a:pPr lvl="1"/>
            <a:r>
              <a:rPr lang="en-US" dirty="0" smtClean="0"/>
              <a:t>If you use STM32, some examples are included with the firmware libraries, more can be found on the internet.</a:t>
            </a:r>
          </a:p>
          <a:p>
            <a:pPr lvl="1"/>
            <a:r>
              <a:rPr lang="en-US" dirty="0" err="1" smtClean="0"/>
              <a:t>Mbed</a:t>
            </a:r>
            <a:r>
              <a:rPr lang="en-US" dirty="0" smtClean="0"/>
              <a:t> examples can be found, for example, from </a:t>
            </a:r>
            <a:r>
              <a:rPr lang="en-US" dirty="0">
                <a:hlinkClick r:id="rId2"/>
              </a:rPr>
              <a:t>https://os.mbed.com/teams/ST</a:t>
            </a:r>
            <a:r>
              <a:rPr lang="en-US" dirty="0" smtClean="0">
                <a:hlinkClick r:id="rId2"/>
              </a:rPr>
              <a:t>/</a:t>
            </a:r>
            <a:endParaRPr lang="en-US" dirty="0" smtClean="0"/>
          </a:p>
          <a:p>
            <a:r>
              <a:rPr lang="en-US" dirty="0" smtClean="0"/>
              <a:t>Be aware that some of the development platforms &amp; libraries;</a:t>
            </a:r>
          </a:p>
          <a:p>
            <a:pPr lvl="1"/>
            <a:r>
              <a:rPr lang="en-US" dirty="0" smtClean="0"/>
              <a:t>May result in a large firmware image for your device instead of including only the parts you need, especially in OS based platforms.</a:t>
            </a:r>
          </a:p>
          <a:p>
            <a:pPr lvl="1"/>
            <a:r>
              <a:rPr lang="en-US" dirty="0" smtClean="0"/>
              <a:t>May consume too much RAM </a:t>
            </a:r>
            <a:r>
              <a:rPr lang="en-US" dirty="0" smtClean="0"/>
              <a:t>on </a:t>
            </a:r>
            <a:r>
              <a:rPr lang="en-US" dirty="0" smtClean="0"/>
              <a:t>your device.</a:t>
            </a:r>
          </a:p>
          <a:p>
            <a:pPr lvl="1"/>
            <a:r>
              <a:rPr lang="en-US" dirty="0" smtClean="0"/>
              <a:t>May have parts that require certain clock speeds or specific types of MCU’s internal hardware blocks to be present for some functionalities.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764704"/>
          </a:xfrm>
        </p:spPr>
        <p:txBody>
          <a:bodyPr/>
          <a:lstStyle/>
          <a:p>
            <a:r>
              <a:rPr lang="en-US" dirty="0" smtClean="0"/>
              <a:t>Getting started, Arduino</a:t>
            </a:r>
            <a:endParaRPr lang="en-US" dirty="0"/>
          </a:p>
        </p:txBody>
      </p:sp>
      <p:sp>
        <p:nvSpPr>
          <p:cNvPr id="3" name="Content Placeholder 2"/>
          <p:cNvSpPr>
            <a:spLocks noGrp="1"/>
          </p:cNvSpPr>
          <p:nvPr>
            <p:ph idx="1"/>
          </p:nvPr>
        </p:nvSpPr>
        <p:spPr>
          <a:xfrm>
            <a:off x="395536" y="908720"/>
            <a:ext cx="8229600" cy="5482844"/>
          </a:xfrm>
        </p:spPr>
        <p:txBody>
          <a:bodyPr/>
          <a:lstStyle/>
          <a:p>
            <a:r>
              <a:rPr lang="en-US" dirty="0" smtClean="0"/>
              <a:t>For beginners, we recommend using Arduino IDE, at least with the ESP32</a:t>
            </a:r>
          </a:p>
          <a:p>
            <a:r>
              <a:rPr lang="en-US" dirty="0" smtClean="0"/>
              <a:t>First, find out if your chosen platform / MCU is supported in Arduino environment</a:t>
            </a:r>
          </a:p>
          <a:p>
            <a:r>
              <a:rPr lang="en-US" dirty="0" smtClean="0"/>
              <a:t>For installing Arduino IDE</a:t>
            </a:r>
          </a:p>
          <a:p>
            <a:pPr lvl="1"/>
            <a:r>
              <a:rPr lang="en-US" dirty="0">
                <a:hlinkClick r:id="rId2"/>
              </a:rPr>
              <a:t>https://</a:t>
            </a:r>
            <a:r>
              <a:rPr lang="en-US" dirty="0" smtClean="0">
                <a:hlinkClick r:id="rId2"/>
              </a:rPr>
              <a:t>www.arduino.cc/en/software</a:t>
            </a:r>
            <a:endParaRPr lang="en-US" dirty="0" smtClean="0"/>
          </a:p>
          <a:p>
            <a:pPr lvl="1"/>
            <a:r>
              <a:rPr lang="en-US" dirty="0" smtClean="0"/>
              <a:t>Depending on your dev-kit or MCU, additional drivers may be required to enable communication through an UART-bridge chip, </a:t>
            </a:r>
            <a:r>
              <a:rPr lang="en-US" dirty="0" smtClean="0"/>
              <a:t>and / or through </a:t>
            </a:r>
            <a:r>
              <a:rPr lang="en-US" dirty="0" smtClean="0"/>
              <a:t>USB</a:t>
            </a:r>
            <a:endParaRPr lang="en-US" dirty="0"/>
          </a:p>
          <a:p>
            <a:r>
              <a:rPr lang="en-US" dirty="0" smtClean="0"/>
              <a:t>Arduino </a:t>
            </a:r>
            <a:r>
              <a:rPr lang="en-US" dirty="0" smtClean="0"/>
              <a:t>development environment </a:t>
            </a:r>
            <a:r>
              <a:rPr lang="en-US" dirty="0" smtClean="0"/>
              <a:t>is also included as an option in some other </a:t>
            </a:r>
            <a:r>
              <a:rPr lang="en-US" dirty="0" smtClean="0"/>
              <a:t>programming IDEs</a:t>
            </a:r>
            <a:endParaRPr lang="en-US" dirty="0" smtClean="0"/>
          </a:p>
          <a:p>
            <a:pPr lvl="1"/>
            <a:r>
              <a:rPr lang="en-US" dirty="0" smtClean="0"/>
              <a:t>Such as </a:t>
            </a:r>
            <a:r>
              <a:rPr lang="en-US" dirty="0" err="1" smtClean="0"/>
              <a:t>PlatformIO</a:t>
            </a:r>
            <a:r>
              <a:rPr lang="en-US" dirty="0" smtClean="0"/>
              <a:t> as a Visual Studio Code extension</a:t>
            </a:r>
          </a:p>
          <a:p>
            <a:pPr lvl="2"/>
            <a:r>
              <a:rPr lang="en-US" dirty="0">
                <a:hlinkClick r:id="rId3"/>
              </a:rPr>
              <a:t>https://</a:t>
            </a:r>
            <a:r>
              <a:rPr lang="en-US" dirty="0" smtClean="0">
                <a:hlinkClick r:id="rId3"/>
              </a:rPr>
              <a:t>platformio.org</a:t>
            </a:r>
          </a:p>
          <a:p>
            <a:pPr lvl="2"/>
            <a:r>
              <a:rPr lang="en-US" dirty="0" smtClean="0"/>
              <a:t>At the time of checking, </a:t>
            </a:r>
            <a:r>
              <a:rPr lang="en-US" dirty="0" err="1" smtClean="0"/>
              <a:t>PlatformIO</a:t>
            </a:r>
            <a:r>
              <a:rPr lang="en-US" dirty="0" smtClean="0"/>
              <a:t> also included STM32Cube and </a:t>
            </a:r>
            <a:r>
              <a:rPr lang="en-US" dirty="0" err="1" smtClean="0"/>
              <a:t>Mbed</a:t>
            </a:r>
            <a:r>
              <a:rPr lang="en-US" dirty="0" smtClean="0"/>
              <a:t> environments. More of them later.</a:t>
            </a:r>
            <a:endParaRPr lang="en-US" dirty="0" smtClean="0">
              <a:hlinkClick r:id="rId3"/>
            </a:endParaRPr>
          </a:p>
        </p:txBody>
      </p:sp>
    </p:spTree>
    <p:extLst>
      <p:ext uri="{BB962C8B-B14F-4D97-AF65-F5344CB8AC3E}">
        <p14:creationId xmlns:p14="http://schemas.microsoft.com/office/powerpoint/2010/main" val="5504311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71977"/>
            <a:ext cx="8229600" cy="620719"/>
          </a:xfrm>
        </p:spPr>
        <p:txBody>
          <a:bodyPr/>
          <a:lstStyle/>
          <a:p>
            <a:r>
              <a:rPr lang="en-US" dirty="0" smtClean="0"/>
              <a:t>Getting started, Arduino</a:t>
            </a:r>
            <a:endParaRPr lang="en-US" dirty="0"/>
          </a:p>
        </p:txBody>
      </p:sp>
      <p:sp>
        <p:nvSpPr>
          <p:cNvPr id="3" name="Content Placeholder 2"/>
          <p:cNvSpPr>
            <a:spLocks noGrp="1"/>
          </p:cNvSpPr>
          <p:nvPr>
            <p:ph idx="1"/>
          </p:nvPr>
        </p:nvSpPr>
        <p:spPr>
          <a:xfrm>
            <a:off x="395536" y="836712"/>
            <a:ext cx="8229600" cy="5688632"/>
          </a:xfrm>
        </p:spPr>
        <p:txBody>
          <a:bodyPr/>
          <a:lstStyle/>
          <a:p>
            <a:r>
              <a:rPr lang="en-US" dirty="0" smtClean="0"/>
              <a:t>If you choose to use Arduino IDE</a:t>
            </a:r>
          </a:p>
          <a:p>
            <a:pPr lvl="1"/>
            <a:r>
              <a:rPr lang="en-US" dirty="0" smtClean="0"/>
              <a:t>Choose your MCU / dev. </a:t>
            </a:r>
            <a:r>
              <a:rPr lang="en-US" dirty="0"/>
              <a:t>b</a:t>
            </a:r>
            <a:r>
              <a:rPr lang="en-US" dirty="0" smtClean="0"/>
              <a:t>oard from Tools -&gt; Boards. If it is not there, open boards manager and install relevant package containing your board / MCU.</a:t>
            </a:r>
          </a:p>
          <a:p>
            <a:pPr lvl="2"/>
            <a:r>
              <a:rPr lang="en-US" dirty="0" smtClean="0"/>
              <a:t>ESP32S3 Dev Module option should be compatible with the dev-kits that can be borrowed from us.</a:t>
            </a:r>
          </a:p>
          <a:p>
            <a:pPr lvl="1"/>
            <a:r>
              <a:rPr lang="en-US" dirty="0" smtClean="0"/>
              <a:t>For full debugging features via JTAG in ESP32 boards, access through USB-lines is required. In the ESP32-S3-DevkitC boards, the USB cable would be plugged to the “USB” port.</a:t>
            </a:r>
          </a:p>
          <a:p>
            <a:pPr lvl="2"/>
            <a:r>
              <a:rPr lang="en-US" dirty="0" smtClean="0"/>
              <a:t>USB mode has to be set to JTAG in Arduino configuration.</a:t>
            </a:r>
          </a:p>
          <a:p>
            <a:pPr lvl="2"/>
            <a:r>
              <a:rPr lang="en-US" dirty="0" smtClean="0"/>
              <a:t>“Virtual COM port” could be used to output text from your program to the Arduino IDE serial monitor simply by using the print commands within your software.</a:t>
            </a:r>
          </a:p>
        </p:txBody>
      </p:sp>
    </p:spTree>
    <p:extLst>
      <p:ext uri="{BB962C8B-B14F-4D97-AF65-F5344CB8AC3E}">
        <p14:creationId xmlns:p14="http://schemas.microsoft.com/office/powerpoint/2010/main" val="302864970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620688"/>
          </a:xfrm>
        </p:spPr>
        <p:txBody>
          <a:bodyPr/>
          <a:lstStyle/>
          <a:p>
            <a:r>
              <a:rPr lang="en-US" dirty="0" smtClean="0"/>
              <a:t>Getting started, STM32Cube</a:t>
            </a:r>
            <a:endParaRPr lang="en-US" dirty="0"/>
          </a:p>
        </p:txBody>
      </p:sp>
      <p:sp>
        <p:nvSpPr>
          <p:cNvPr id="3" name="Content Placeholder 2"/>
          <p:cNvSpPr>
            <a:spLocks noGrp="1"/>
          </p:cNvSpPr>
          <p:nvPr>
            <p:ph idx="1"/>
          </p:nvPr>
        </p:nvSpPr>
        <p:spPr>
          <a:xfrm>
            <a:off x="395536" y="620688"/>
            <a:ext cx="8229600" cy="6048672"/>
          </a:xfrm>
        </p:spPr>
        <p:txBody>
          <a:bodyPr/>
          <a:lstStyle/>
          <a:p>
            <a:r>
              <a:rPr lang="en-US" dirty="0" smtClean="0"/>
              <a:t>Only relevant if using STM32 MCU based system</a:t>
            </a:r>
          </a:p>
          <a:p>
            <a:r>
              <a:rPr lang="en-US" dirty="0" smtClean="0"/>
              <a:t>Using STM32Cube has less overhead, involves closer to hardware programming through STM32 HAL (Hardware Abstraction Layer) libraries, than using Operating System (OS) based implementations for STM32, like the </a:t>
            </a:r>
            <a:r>
              <a:rPr lang="en-US" dirty="0" err="1" smtClean="0"/>
              <a:t>Mbed</a:t>
            </a:r>
            <a:r>
              <a:rPr lang="en-US" dirty="0" smtClean="0"/>
              <a:t> OS</a:t>
            </a:r>
          </a:p>
          <a:p>
            <a:r>
              <a:rPr lang="en-US" dirty="0" smtClean="0"/>
              <a:t>In general, you will need the STM32CubeMX package</a:t>
            </a:r>
          </a:p>
          <a:p>
            <a:pPr lvl="1"/>
            <a:r>
              <a:rPr lang="en-US" dirty="0">
                <a:hlinkClick r:id="rId2"/>
              </a:rPr>
              <a:t>https://</a:t>
            </a:r>
            <a:r>
              <a:rPr lang="en-US" dirty="0" smtClean="0">
                <a:hlinkClick r:id="rId2"/>
              </a:rPr>
              <a:t>www.st.com/en/development-tools/stm32cubemx.html</a:t>
            </a:r>
            <a:endParaRPr lang="en-US" dirty="0" smtClean="0"/>
          </a:p>
          <a:p>
            <a:pPr lvl="1"/>
            <a:r>
              <a:rPr lang="en-US" dirty="0" smtClean="0"/>
              <a:t>Should include the newest basic MCU firmware / HAL libraries</a:t>
            </a:r>
          </a:p>
          <a:p>
            <a:pPr lvl="1"/>
            <a:r>
              <a:rPr lang="en-US" dirty="0" smtClean="0"/>
              <a:t>But may need additional drivers &amp; firmware from</a:t>
            </a:r>
          </a:p>
          <a:p>
            <a:pPr lvl="2"/>
            <a:r>
              <a:rPr lang="en-US" dirty="0">
                <a:hlinkClick r:id="rId3"/>
              </a:rPr>
              <a:t>https://</a:t>
            </a:r>
            <a:r>
              <a:rPr lang="en-US" dirty="0" smtClean="0">
                <a:hlinkClick r:id="rId3"/>
              </a:rPr>
              <a:t>www.st.com/en/development-tools/stsw-link009.html</a:t>
            </a:r>
            <a:endParaRPr lang="en-US" dirty="0" smtClean="0"/>
          </a:p>
          <a:p>
            <a:pPr lvl="2"/>
            <a:r>
              <a:rPr lang="en-US" dirty="0">
                <a:hlinkClick r:id="rId4"/>
              </a:rPr>
              <a:t>https://</a:t>
            </a:r>
            <a:r>
              <a:rPr lang="en-US" dirty="0" smtClean="0">
                <a:hlinkClick r:id="rId4"/>
              </a:rPr>
              <a:t>www.st.com/en/development-tools/stsw-link007.html</a:t>
            </a:r>
            <a:r>
              <a:rPr lang="en-US" dirty="0" smtClean="0"/>
              <a:t> </a:t>
            </a:r>
          </a:p>
          <a:p>
            <a:r>
              <a:rPr lang="en-US" dirty="0"/>
              <a:t>Several IDE’s to choose from</a:t>
            </a:r>
          </a:p>
          <a:p>
            <a:pPr lvl="1"/>
            <a:r>
              <a:rPr lang="en-US" dirty="0" smtClean="0"/>
              <a:t>ST has the STM32CubeIDE environment (based on Eclipse)</a:t>
            </a:r>
          </a:p>
          <a:p>
            <a:pPr lvl="2"/>
            <a:r>
              <a:rPr lang="en-US" dirty="0">
                <a:hlinkClick r:id="rId5"/>
              </a:rPr>
              <a:t>https://</a:t>
            </a:r>
            <a:r>
              <a:rPr lang="en-US" dirty="0" smtClean="0">
                <a:hlinkClick r:id="rId5"/>
              </a:rPr>
              <a:t>www.st.com/en/development-tools/stm32cubeide.html</a:t>
            </a:r>
            <a:r>
              <a:rPr lang="en-US" dirty="0" smtClean="0"/>
              <a:t> </a:t>
            </a:r>
          </a:p>
          <a:p>
            <a:pPr lvl="2"/>
            <a:r>
              <a:rPr lang="en-US" dirty="0" smtClean="0"/>
              <a:t>Nowadays, may also incorporate all of the functionality of STM32CubeMX, so it may not be needed separately</a:t>
            </a:r>
          </a:p>
          <a:p>
            <a:pPr lvl="1"/>
            <a:r>
              <a:rPr lang="en-US" dirty="0" smtClean="0"/>
              <a:t>Other extensions </a:t>
            </a:r>
            <a:r>
              <a:rPr lang="en-US" dirty="0"/>
              <a:t>and plugins exist for </a:t>
            </a:r>
            <a:r>
              <a:rPr lang="en-US" dirty="0" err="1"/>
              <a:t>VSCode</a:t>
            </a:r>
            <a:r>
              <a:rPr lang="en-US" dirty="0"/>
              <a:t>, Eclipse, etc</a:t>
            </a:r>
            <a:r>
              <a:rPr lang="en-US" dirty="0" smtClean="0"/>
              <a:t>.</a:t>
            </a:r>
            <a:endParaRPr lang="en-US" dirty="0"/>
          </a:p>
        </p:txBody>
      </p:sp>
    </p:spTree>
    <p:extLst>
      <p:ext uri="{BB962C8B-B14F-4D97-AF65-F5344CB8AC3E}">
        <p14:creationId xmlns:p14="http://schemas.microsoft.com/office/powerpoint/2010/main" val="36502675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620688"/>
          </a:xfrm>
        </p:spPr>
        <p:txBody>
          <a:bodyPr/>
          <a:lstStyle/>
          <a:p>
            <a:r>
              <a:rPr lang="en-US" dirty="0" smtClean="0"/>
              <a:t>Getting started, STM32Cube</a:t>
            </a:r>
            <a:endParaRPr lang="en-US" dirty="0"/>
          </a:p>
        </p:txBody>
      </p:sp>
      <p:sp>
        <p:nvSpPr>
          <p:cNvPr id="3" name="Content Placeholder 2"/>
          <p:cNvSpPr>
            <a:spLocks noGrp="1"/>
          </p:cNvSpPr>
          <p:nvPr>
            <p:ph idx="1"/>
          </p:nvPr>
        </p:nvSpPr>
        <p:spPr>
          <a:xfrm>
            <a:off x="395536" y="764704"/>
            <a:ext cx="8229600" cy="5832648"/>
          </a:xfrm>
        </p:spPr>
        <p:txBody>
          <a:bodyPr/>
          <a:lstStyle/>
          <a:p>
            <a:r>
              <a:rPr lang="en-US" dirty="0" smtClean="0"/>
              <a:t>Using STM32CubeMX GUI code generation tool</a:t>
            </a:r>
          </a:p>
          <a:p>
            <a:pPr lvl="1"/>
            <a:r>
              <a:rPr lang="en-US" dirty="0" smtClean="0"/>
              <a:t>Create a new project, choosing your board / MCU</a:t>
            </a:r>
          </a:p>
          <a:p>
            <a:pPr lvl="1"/>
            <a:r>
              <a:rPr lang="en-US" dirty="0" smtClean="0"/>
              <a:t>Configure all the required hardware blocks (clock inputs, GPIO pins, timers, ISP, I2C, etc. interfaces)</a:t>
            </a:r>
          </a:p>
          <a:p>
            <a:r>
              <a:rPr lang="en-US" dirty="0" smtClean="0"/>
              <a:t>After the MCU setup, configure the code generation according to the toolchain / IDE you will be using</a:t>
            </a:r>
          </a:p>
          <a:p>
            <a:r>
              <a:rPr lang="en-US" dirty="0" smtClean="0"/>
              <a:t>After generating the initialization code, the project can be imported to IDEs that supports STM32Cube</a:t>
            </a:r>
          </a:p>
          <a:p>
            <a:r>
              <a:rPr lang="en-US" dirty="0" smtClean="0"/>
              <a:t>In the generated code, there are clearly marked sections for your own code, that will not change even if you change stuff using the STM32CubeMX GUI</a:t>
            </a:r>
            <a:endParaRPr lang="en-US" dirty="0"/>
          </a:p>
          <a:p>
            <a:pPr lvl="1"/>
            <a:r>
              <a:rPr lang="en-US" dirty="0" smtClean="0"/>
              <a:t>However, if you remove a peripheral or other block, you will lose the code within those generated functions, so be careful</a:t>
            </a:r>
          </a:p>
          <a:p>
            <a:pPr lvl="2"/>
            <a:r>
              <a:rPr lang="en-US" dirty="0" smtClean="0"/>
              <a:t>Preferably store your own code in libraries elsewhere, and use minimum amount of functions calls and algorithms in the generated code areas</a:t>
            </a:r>
          </a:p>
          <a:p>
            <a:pPr lvl="2"/>
            <a:r>
              <a:rPr lang="en-US" dirty="0" smtClean="0"/>
              <a:t>Backup often!</a:t>
            </a:r>
          </a:p>
        </p:txBody>
      </p:sp>
    </p:spTree>
    <p:extLst>
      <p:ext uri="{BB962C8B-B14F-4D97-AF65-F5344CB8AC3E}">
        <p14:creationId xmlns:p14="http://schemas.microsoft.com/office/powerpoint/2010/main" val="1840588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692696"/>
          </a:xfrm>
        </p:spPr>
        <p:txBody>
          <a:bodyPr/>
          <a:lstStyle/>
          <a:p>
            <a:r>
              <a:rPr lang="en-US" dirty="0" smtClean="0"/>
              <a:t>Getting started, </a:t>
            </a:r>
            <a:r>
              <a:rPr lang="en-US" dirty="0" err="1" smtClean="0"/>
              <a:t>PlatformIO</a:t>
            </a:r>
            <a:endParaRPr lang="en-US" dirty="0"/>
          </a:p>
        </p:txBody>
      </p:sp>
      <p:sp>
        <p:nvSpPr>
          <p:cNvPr id="3" name="Content Placeholder 2"/>
          <p:cNvSpPr>
            <a:spLocks noGrp="1"/>
          </p:cNvSpPr>
          <p:nvPr>
            <p:ph idx="1"/>
          </p:nvPr>
        </p:nvSpPr>
        <p:spPr>
          <a:xfrm>
            <a:off x="395536" y="908720"/>
            <a:ext cx="8229600" cy="5400600"/>
          </a:xfrm>
        </p:spPr>
        <p:txBody>
          <a:bodyPr/>
          <a:lstStyle/>
          <a:p>
            <a:r>
              <a:rPr lang="en-US" dirty="0" smtClean="0"/>
              <a:t>If you are developing a “shield” type add-on board for your dev-kit, you may optionally use the </a:t>
            </a:r>
            <a:r>
              <a:rPr lang="en-US" dirty="0" err="1"/>
              <a:t>PlatformIO</a:t>
            </a:r>
            <a:r>
              <a:rPr lang="en-US" dirty="0"/>
              <a:t> </a:t>
            </a:r>
            <a:r>
              <a:rPr lang="en-US" dirty="0" smtClean="0"/>
              <a:t>IDE for </a:t>
            </a:r>
            <a:r>
              <a:rPr lang="en-US" dirty="0" err="1" smtClean="0"/>
              <a:t>VSCode</a:t>
            </a:r>
            <a:r>
              <a:rPr lang="en-US" dirty="0" smtClean="0"/>
              <a:t> (Visual Studio Code)</a:t>
            </a:r>
          </a:p>
          <a:p>
            <a:pPr lvl="1"/>
            <a:r>
              <a:rPr lang="en-US" dirty="0" smtClean="0"/>
              <a:t>Should </a:t>
            </a:r>
            <a:r>
              <a:rPr lang="en-US" dirty="0"/>
              <a:t>be easy to </a:t>
            </a:r>
            <a:r>
              <a:rPr lang="en-US" dirty="0" smtClean="0"/>
              <a:t>install in </a:t>
            </a:r>
            <a:r>
              <a:rPr lang="en-US" dirty="0" err="1" smtClean="0"/>
              <a:t>VSCode</a:t>
            </a:r>
            <a:r>
              <a:rPr lang="en-US" dirty="0"/>
              <a:t>, just install the </a:t>
            </a:r>
            <a:r>
              <a:rPr lang="en-US" dirty="0" err="1"/>
              <a:t>PlatformIO</a:t>
            </a:r>
            <a:r>
              <a:rPr lang="en-US" dirty="0"/>
              <a:t> IDE </a:t>
            </a:r>
            <a:r>
              <a:rPr lang="en-US" dirty="0" smtClean="0"/>
              <a:t>Extension</a:t>
            </a:r>
          </a:p>
          <a:p>
            <a:pPr lvl="1"/>
            <a:r>
              <a:rPr lang="en-US" dirty="0" smtClean="0"/>
              <a:t>Should already include everything for STM32Cube, </a:t>
            </a:r>
            <a:r>
              <a:rPr lang="en-US" dirty="0" err="1" smtClean="0"/>
              <a:t>Mbed</a:t>
            </a:r>
            <a:r>
              <a:rPr lang="en-US" dirty="0" smtClean="0"/>
              <a:t>, or Arduino environment development</a:t>
            </a:r>
          </a:p>
          <a:p>
            <a:pPr lvl="1"/>
            <a:r>
              <a:rPr lang="en-US" dirty="0" smtClean="0"/>
              <a:t>Note, </a:t>
            </a:r>
            <a:r>
              <a:rPr lang="en-US" dirty="0" err="1" smtClean="0"/>
              <a:t>PlatformIO</a:t>
            </a:r>
            <a:r>
              <a:rPr lang="en-US" dirty="0" smtClean="0"/>
              <a:t> might include older, sometimes buggy, libraries, so newer ones may have to be added manually depending on the dev-kit / MCU</a:t>
            </a:r>
          </a:p>
          <a:p>
            <a:pPr lvl="2"/>
            <a:r>
              <a:rPr lang="en-US" dirty="0" smtClean="0"/>
              <a:t>Sometimes may need to install the newer libraries and change the project specific configuration files to point at the correct location of the new libraries</a:t>
            </a:r>
          </a:p>
        </p:txBody>
      </p:sp>
    </p:spTree>
    <p:extLst>
      <p:ext uri="{BB962C8B-B14F-4D97-AF65-F5344CB8AC3E}">
        <p14:creationId xmlns:p14="http://schemas.microsoft.com/office/powerpoint/2010/main" val="3267618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7544" y="0"/>
            <a:ext cx="8229600" cy="620688"/>
          </a:xfrm>
        </p:spPr>
        <p:txBody>
          <a:bodyPr/>
          <a:lstStyle/>
          <a:p>
            <a:r>
              <a:rPr lang="en-US" dirty="0" smtClean="0"/>
              <a:t>Getting started, </a:t>
            </a:r>
            <a:r>
              <a:rPr lang="en-US" dirty="0" err="1" smtClean="0"/>
              <a:t>Mbed</a:t>
            </a:r>
            <a:endParaRPr lang="en-US" dirty="0"/>
          </a:p>
        </p:txBody>
      </p:sp>
      <p:sp>
        <p:nvSpPr>
          <p:cNvPr id="3" name="Content Placeholder 2"/>
          <p:cNvSpPr>
            <a:spLocks noGrp="1"/>
          </p:cNvSpPr>
          <p:nvPr>
            <p:ph idx="1"/>
          </p:nvPr>
        </p:nvSpPr>
        <p:spPr>
          <a:xfrm>
            <a:off x="395536" y="620688"/>
            <a:ext cx="8229600" cy="5976664"/>
          </a:xfrm>
        </p:spPr>
        <p:txBody>
          <a:bodyPr/>
          <a:lstStyle/>
          <a:p>
            <a:r>
              <a:rPr lang="en-US" dirty="0" err="1" smtClean="0"/>
              <a:t>Mbed</a:t>
            </a:r>
            <a:r>
              <a:rPr lang="en-US" dirty="0" smtClean="0"/>
              <a:t> code is implemented for the </a:t>
            </a:r>
            <a:r>
              <a:rPr lang="en-US" dirty="0" err="1" smtClean="0"/>
              <a:t>Mbed</a:t>
            </a:r>
            <a:r>
              <a:rPr lang="en-US" dirty="0" smtClean="0"/>
              <a:t> OS, although using the full OS part is optional. </a:t>
            </a:r>
            <a:r>
              <a:rPr lang="en-US" dirty="0" err="1" smtClean="0"/>
              <a:t>Mbed</a:t>
            </a:r>
            <a:r>
              <a:rPr lang="en-US" dirty="0" smtClean="0"/>
              <a:t> abstracts away some of the hardware related details for somewhat simpler code.</a:t>
            </a:r>
          </a:p>
          <a:p>
            <a:r>
              <a:rPr lang="en-US" dirty="0" err="1" smtClean="0"/>
              <a:t>Mbed</a:t>
            </a:r>
            <a:r>
              <a:rPr lang="en-US" dirty="0" smtClean="0"/>
              <a:t> code should be portable between platforms, and simple things can be implemented quickly and easily, but</a:t>
            </a:r>
            <a:r>
              <a:rPr lang="en-FI" dirty="0" smtClean="0"/>
              <a:t>…</a:t>
            </a:r>
            <a:endParaRPr lang="en-US" dirty="0" smtClean="0"/>
          </a:p>
          <a:p>
            <a:r>
              <a:rPr lang="en-FI" dirty="0" smtClean="0"/>
              <a:t>…</a:t>
            </a:r>
            <a:r>
              <a:rPr lang="en-US" dirty="0" smtClean="0"/>
              <a:t> seems to be somewhat of a hassle to setup own custom boards for </a:t>
            </a:r>
            <a:r>
              <a:rPr lang="en-US" dirty="0" err="1" smtClean="0"/>
              <a:t>Mbed</a:t>
            </a:r>
            <a:r>
              <a:rPr lang="en-US" dirty="0" smtClean="0"/>
              <a:t>, if it is not an already supported dev kit.</a:t>
            </a:r>
          </a:p>
          <a:p>
            <a:pPr lvl="1"/>
            <a:r>
              <a:rPr lang="en-US" dirty="0" smtClean="0"/>
              <a:t>Example of a complicated to setup your own custom board for </a:t>
            </a:r>
            <a:r>
              <a:rPr lang="en-US" dirty="0" err="1" smtClean="0"/>
              <a:t>Mbed</a:t>
            </a:r>
            <a:r>
              <a:rPr lang="en-US" dirty="0" smtClean="0"/>
              <a:t>, see: </a:t>
            </a:r>
            <a:r>
              <a:rPr lang="en-US" dirty="0" smtClean="0">
                <a:hlinkClick r:id="rId2"/>
              </a:rPr>
              <a:t>https://os.mbed.com/teams/ST/wiki/steps-to-create-a-new-STM32-platform</a:t>
            </a:r>
            <a:r>
              <a:rPr lang="en-US" dirty="0" smtClean="0"/>
              <a:t> </a:t>
            </a:r>
          </a:p>
          <a:p>
            <a:pPr lvl="1"/>
            <a:r>
              <a:rPr lang="en-US" dirty="0" smtClean="0"/>
              <a:t>Here are couple of examples of customizations required, if you make your own custom board with the same MCU as a corresponding </a:t>
            </a:r>
            <a:r>
              <a:rPr lang="en-US" dirty="0" err="1" smtClean="0"/>
              <a:t>Nucleo</a:t>
            </a:r>
            <a:r>
              <a:rPr lang="en-US" dirty="0" smtClean="0"/>
              <a:t> dev-kit</a:t>
            </a:r>
          </a:p>
          <a:p>
            <a:pPr lvl="2"/>
            <a:r>
              <a:rPr lang="en-US" dirty="0" smtClean="0">
                <a:hlinkClick r:id="rId3"/>
              </a:rPr>
              <a:t>https</a:t>
            </a:r>
            <a:r>
              <a:rPr lang="en-US" dirty="0">
                <a:hlinkClick r:id="rId3"/>
              </a:rPr>
              <a:t>://os.mbed.com/users/hudakz/code/STM32F103C8T6_Hello</a:t>
            </a:r>
            <a:r>
              <a:rPr lang="en-US" dirty="0" smtClean="0">
                <a:hlinkClick r:id="rId3"/>
              </a:rPr>
              <a:t>/</a:t>
            </a:r>
            <a:r>
              <a:rPr lang="en-US" dirty="0" smtClean="0"/>
              <a:t> </a:t>
            </a:r>
          </a:p>
          <a:p>
            <a:pPr lvl="2"/>
            <a:r>
              <a:rPr lang="en-US" dirty="0">
                <a:hlinkClick r:id="rId4"/>
              </a:rPr>
              <a:t>https://os.mbed.com/users/hudakz/code/MapleMini_Hello</a:t>
            </a:r>
            <a:r>
              <a:rPr lang="en-US" dirty="0" smtClean="0">
                <a:hlinkClick r:id="rId4"/>
              </a:rPr>
              <a:t>/</a:t>
            </a:r>
            <a:r>
              <a:rPr lang="en-US" dirty="0" smtClean="0"/>
              <a:t> </a:t>
            </a:r>
          </a:p>
          <a:p>
            <a:r>
              <a:rPr lang="en-US" dirty="0"/>
              <a:t>(</a:t>
            </a:r>
            <a:r>
              <a:rPr lang="en-US" dirty="0" smtClean="0"/>
              <a:t>Personally, </a:t>
            </a:r>
            <a:r>
              <a:rPr lang="en-US" dirty="0"/>
              <a:t>have not </a:t>
            </a:r>
            <a:r>
              <a:rPr lang="en-US" dirty="0" smtClean="0"/>
              <a:t>used </a:t>
            </a:r>
            <a:r>
              <a:rPr lang="en-US" dirty="0" err="1" smtClean="0"/>
              <a:t>Mbed</a:t>
            </a:r>
            <a:r>
              <a:rPr lang="en-US" dirty="0" smtClean="0"/>
              <a:t>, but I heard it is simple to use with dev-kits and if </a:t>
            </a:r>
            <a:r>
              <a:rPr lang="en-US" dirty="0" err="1" smtClean="0"/>
              <a:t>Mbed</a:t>
            </a:r>
            <a:r>
              <a:rPr lang="en-US" dirty="0" smtClean="0"/>
              <a:t> “drivers” are available for your selected ICs)</a:t>
            </a:r>
            <a:endParaRPr lang="en-US" dirty="0"/>
          </a:p>
        </p:txBody>
      </p:sp>
    </p:spTree>
    <p:extLst>
      <p:ext uri="{BB962C8B-B14F-4D97-AF65-F5344CB8AC3E}">
        <p14:creationId xmlns:p14="http://schemas.microsoft.com/office/powerpoint/2010/main" val="39491573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432048"/>
          </a:xfrm>
        </p:spPr>
        <p:txBody>
          <a:bodyPr/>
          <a:lstStyle/>
          <a:p>
            <a:r>
              <a:rPr lang="en-US" dirty="0" smtClean="0"/>
              <a:t>Debugging</a:t>
            </a:r>
            <a:endParaRPr lang="en-US" dirty="0"/>
          </a:p>
        </p:txBody>
      </p:sp>
      <p:sp>
        <p:nvSpPr>
          <p:cNvPr id="3" name="Content Placeholder 2"/>
          <p:cNvSpPr>
            <a:spLocks noGrp="1"/>
          </p:cNvSpPr>
          <p:nvPr>
            <p:ph idx="1"/>
          </p:nvPr>
        </p:nvSpPr>
        <p:spPr>
          <a:xfrm>
            <a:off x="457200" y="692696"/>
            <a:ext cx="8229600" cy="5760640"/>
          </a:xfrm>
        </p:spPr>
        <p:txBody>
          <a:bodyPr/>
          <a:lstStyle/>
          <a:p>
            <a:r>
              <a:rPr lang="en-US" dirty="0" smtClean="0"/>
              <a:t>At least on ESP32, there exists internal circuitry for JTAG (</a:t>
            </a:r>
            <a:r>
              <a:rPr lang="en-US" dirty="0"/>
              <a:t>Joint Test Action </a:t>
            </a:r>
            <a:r>
              <a:rPr lang="en-US" dirty="0" smtClean="0"/>
              <a:t>Group), which is accessed via USB data lines</a:t>
            </a:r>
          </a:p>
          <a:p>
            <a:pPr lvl="1"/>
            <a:r>
              <a:rPr lang="en-US" dirty="0"/>
              <a:t>T</a:t>
            </a:r>
            <a:r>
              <a:rPr lang="en-US" dirty="0" smtClean="0"/>
              <a:t>o use more advanced debugging functionality on ESP32, use the USB port on the ESP32 to connect it to your computer</a:t>
            </a:r>
          </a:p>
          <a:p>
            <a:r>
              <a:rPr lang="en-US" dirty="0" smtClean="0"/>
              <a:t>Other way to program and communicate with the ESP32, is to use the UART port.</a:t>
            </a:r>
          </a:p>
          <a:p>
            <a:pPr lvl="1"/>
            <a:r>
              <a:rPr lang="en-US" dirty="0" smtClean="0"/>
              <a:t>UART can also be used to get printed text from the code via print functions</a:t>
            </a:r>
          </a:p>
          <a:p>
            <a:pPr lvl="2"/>
            <a:r>
              <a:rPr lang="en-US" dirty="0"/>
              <a:t>However, </a:t>
            </a:r>
            <a:r>
              <a:rPr lang="en-US" dirty="0" smtClean="0"/>
              <a:t>note that printing is typically not available if running a debug stub in your firmware that communicates with your debugger through the UART port. I.e. </a:t>
            </a:r>
            <a:r>
              <a:rPr lang="en-US" dirty="0"/>
              <a:t>t</a:t>
            </a:r>
            <a:r>
              <a:rPr lang="en-US" dirty="0" smtClean="0"/>
              <a:t>here is no “virtual COM port” available for printing text.</a:t>
            </a:r>
          </a:p>
          <a:p>
            <a:pPr lvl="1"/>
            <a:r>
              <a:rPr lang="en-US" dirty="0" smtClean="0"/>
              <a:t>To enable code upload via UART to ESP32, the boot pin has to be pulled to ground in power up (BOOT button).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432048"/>
          </a:xfrm>
        </p:spPr>
        <p:txBody>
          <a:bodyPr/>
          <a:lstStyle/>
          <a:p>
            <a:r>
              <a:rPr lang="en-US" dirty="0" smtClean="0"/>
              <a:t>Debugging</a:t>
            </a:r>
            <a:endParaRPr lang="en-US" dirty="0"/>
          </a:p>
        </p:txBody>
      </p:sp>
      <p:sp>
        <p:nvSpPr>
          <p:cNvPr id="3" name="Content Placeholder 2"/>
          <p:cNvSpPr>
            <a:spLocks noGrp="1"/>
          </p:cNvSpPr>
          <p:nvPr>
            <p:ph idx="1"/>
          </p:nvPr>
        </p:nvSpPr>
        <p:spPr>
          <a:xfrm>
            <a:off x="457200" y="692696"/>
            <a:ext cx="8229600" cy="6048672"/>
          </a:xfrm>
        </p:spPr>
        <p:txBody>
          <a:bodyPr/>
          <a:lstStyle/>
          <a:p>
            <a:r>
              <a:rPr lang="en-US" dirty="0" smtClean="0"/>
              <a:t>Couple of </a:t>
            </a:r>
            <a:r>
              <a:rPr lang="en-US" dirty="0" err="1" smtClean="0"/>
              <a:t>Mbed</a:t>
            </a:r>
            <a:r>
              <a:rPr lang="en-US" dirty="0" smtClean="0"/>
              <a:t> and STM32Cube examples for outputting “</a:t>
            </a:r>
            <a:r>
              <a:rPr lang="en-US" dirty="0" err="1" smtClean="0"/>
              <a:t>printf</a:t>
            </a:r>
            <a:r>
              <a:rPr lang="en-US" dirty="0" smtClean="0"/>
              <a:t>” text via UART / “virtual COM port” with STM32 MCUs:</a:t>
            </a:r>
          </a:p>
          <a:p>
            <a:pPr lvl="1"/>
            <a:r>
              <a:rPr lang="en-US" dirty="0">
                <a:hlinkClick r:id="rId2"/>
              </a:rPr>
              <a:t>https://os.mbed.com/docs/mbed-os/v6.8/debug-test/debugging-using-printf-statements.html</a:t>
            </a:r>
          </a:p>
          <a:p>
            <a:pPr lvl="1"/>
            <a:r>
              <a:rPr lang="en-US" dirty="0" smtClean="0">
                <a:hlinkClick r:id="rId2"/>
              </a:rPr>
              <a:t>http</a:t>
            </a:r>
            <a:r>
              <a:rPr lang="en-US" dirty="0">
                <a:hlinkClick r:id="rId2"/>
              </a:rPr>
              <a:t>://www.emcu.eu/how-to-implement-printf-for-send-message-via-usb-on-stm32-nucleo-boards</a:t>
            </a:r>
            <a:r>
              <a:rPr lang="en-US" dirty="0" smtClean="0">
                <a:hlinkClick r:id="rId2"/>
              </a:rPr>
              <a:t>/</a:t>
            </a:r>
            <a:r>
              <a:rPr lang="en-US" dirty="0" smtClean="0"/>
              <a:t> </a:t>
            </a:r>
          </a:p>
        </p:txBody>
      </p:sp>
    </p:spTree>
    <p:extLst>
      <p:ext uri="{BB962C8B-B14F-4D97-AF65-F5344CB8AC3E}">
        <p14:creationId xmlns:p14="http://schemas.microsoft.com/office/powerpoint/2010/main" val="2128836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16632"/>
            <a:ext cx="8229600" cy="432048"/>
          </a:xfrm>
        </p:spPr>
        <p:txBody>
          <a:bodyPr/>
          <a:lstStyle/>
          <a:p>
            <a:r>
              <a:rPr lang="en-US" dirty="0" smtClean="0"/>
              <a:t>Debugging, general tips</a:t>
            </a:r>
            <a:endParaRPr lang="en-US" dirty="0"/>
          </a:p>
        </p:txBody>
      </p:sp>
      <p:sp>
        <p:nvSpPr>
          <p:cNvPr id="3" name="Content Placeholder 2"/>
          <p:cNvSpPr>
            <a:spLocks noGrp="1"/>
          </p:cNvSpPr>
          <p:nvPr>
            <p:ph idx="1"/>
          </p:nvPr>
        </p:nvSpPr>
        <p:spPr>
          <a:xfrm>
            <a:off x="457200" y="692696"/>
            <a:ext cx="8229600" cy="6048672"/>
          </a:xfrm>
        </p:spPr>
        <p:txBody>
          <a:bodyPr/>
          <a:lstStyle/>
          <a:p>
            <a:r>
              <a:rPr lang="en-US" dirty="0" smtClean="0"/>
              <a:t>Regardless of which interface you use for programming, I would recommend to have at least one additional UART port available on your device as a back up plan, if it is otherwise difficult to get some text printed out from your code during debugging.</a:t>
            </a:r>
          </a:p>
          <a:p>
            <a:pPr lvl="1"/>
            <a:r>
              <a:rPr lang="en-US" dirty="0" smtClean="0"/>
              <a:t>Some tools / MCUs may not support running real-time debugging and printing text through the same UART port.</a:t>
            </a:r>
          </a:p>
          <a:p>
            <a:r>
              <a:rPr lang="en-US" dirty="0" smtClean="0"/>
              <a:t>Your IDE should support placement of breakpoints, which you can use to halt the code at given points and check variables, if the required debug tools are installed and configured properly.</a:t>
            </a:r>
          </a:p>
          <a:p>
            <a:r>
              <a:rPr lang="en-US" dirty="0" smtClean="0"/>
              <a:t>Set a break points in your code near, before, and after the problem point. Then step through the problem part of the code constantly checking on the related register and variable values.</a:t>
            </a:r>
          </a:p>
        </p:txBody>
      </p:sp>
    </p:spTree>
    <p:extLst>
      <p:ext uri="{BB962C8B-B14F-4D97-AF65-F5344CB8AC3E}">
        <p14:creationId xmlns:p14="http://schemas.microsoft.com/office/powerpoint/2010/main" val="23542467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017" y="116632"/>
            <a:ext cx="8229600" cy="634082"/>
          </a:xfrm>
        </p:spPr>
        <p:txBody>
          <a:bodyPr/>
          <a:lstStyle/>
          <a:p>
            <a:r>
              <a:rPr lang="en-US" dirty="0"/>
              <a:t>Debugging, general tips</a:t>
            </a:r>
          </a:p>
        </p:txBody>
      </p:sp>
      <p:sp>
        <p:nvSpPr>
          <p:cNvPr id="3" name="Content Placeholder 2"/>
          <p:cNvSpPr>
            <a:spLocks noGrp="1"/>
          </p:cNvSpPr>
          <p:nvPr>
            <p:ph idx="1"/>
          </p:nvPr>
        </p:nvSpPr>
        <p:spPr>
          <a:xfrm>
            <a:off x="419720" y="746917"/>
            <a:ext cx="8229600" cy="5832648"/>
          </a:xfrm>
        </p:spPr>
        <p:txBody>
          <a:bodyPr/>
          <a:lstStyle/>
          <a:p>
            <a:r>
              <a:rPr lang="en-US" dirty="0" smtClean="0"/>
              <a:t>Add </a:t>
            </a:r>
            <a:r>
              <a:rPr lang="en-US" dirty="0"/>
              <a:t>break </a:t>
            </a:r>
            <a:r>
              <a:rPr lang="en-US" dirty="0" smtClean="0"/>
              <a:t>points / text prints </a:t>
            </a:r>
            <a:r>
              <a:rPr lang="en-US" dirty="0"/>
              <a:t>in your code also into places where you suspect the code may jump to during misbehavior. For example, if you place a break </a:t>
            </a:r>
            <a:r>
              <a:rPr lang="en-US" dirty="0" smtClean="0"/>
              <a:t>point just </a:t>
            </a:r>
            <a:r>
              <a:rPr lang="en-US" dirty="0" smtClean="0"/>
              <a:t>before your </a:t>
            </a:r>
            <a:r>
              <a:rPr lang="en-US" dirty="0"/>
              <a:t>main-function, you will see if the </a:t>
            </a:r>
            <a:r>
              <a:rPr lang="en-US" dirty="0" smtClean="0"/>
              <a:t>device </a:t>
            </a:r>
            <a:r>
              <a:rPr lang="en-US" dirty="0"/>
              <a:t>resets at some point </a:t>
            </a:r>
            <a:r>
              <a:rPr lang="en-US" dirty="0" smtClean="0"/>
              <a:t>and the software execution starts from scratch, </a:t>
            </a:r>
            <a:r>
              <a:rPr lang="en-US" dirty="0"/>
              <a:t>out of the main </a:t>
            </a:r>
            <a:r>
              <a:rPr lang="en-US" dirty="0" smtClean="0"/>
              <a:t>loop, when </a:t>
            </a:r>
            <a:r>
              <a:rPr lang="en-US" dirty="0"/>
              <a:t>it is not supposed to.</a:t>
            </a:r>
          </a:p>
          <a:p>
            <a:pPr lvl="1"/>
            <a:r>
              <a:rPr lang="en-US" dirty="0"/>
              <a:t>For example, when the MCU resets </a:t>
            </a:r>
            <a:r>
              <a:rPr lang="en-US" dirty="0" smtClean="0"/>
              <a:t>unexpectedly, like due to a supply voltage glitch or other problem.</a:t>
            </a:r>
            <a:endParaRPr lang="en-US" dirty="0" smtClean="0"/>
          </a:p>
          <a:p>
            <a:r>
              <a:rPr lang="en-US" dirty="0" smtClean="0"/>
              <a:t>If </a:t>
            </a:r>
            <a:r>
              <a:rPr lang="en-US" dirty="0"/>
              <a:t>the MCU </a:t>
            </a:r>
            <a:r>
              <a:rPr lang="en-US" dirty="0" smtClean="0"/>
              <a:t>does not initialize and run properly, </a:t>
            </a:r>
            <a:r>
              <a:rPr lang="en-US" dirty="0"/>
              <a:t>check the clock </a:t>
            </a:r>
            <a:r>
              <a:rPr lang="en-US" dirty="0" smtClean="0"/>
              <a:t>signals </a:t>
            </a:r>
            <a:r>
              <a:rPr lang="en-US" dirty="0"/>
              <a:t>with </a:t>
            </a:r>
            <a:r>
              <a:rPr lang="en-US" dirty="0" smtClean="0"/>
              <a:t>oscilloscope and that the </a:t>
            </a:r>
            <a:r>
              <a:rPr lang="en-US" dirty="0"/>
              <a:t>configuration </a:t>
            </a:r>
            <a:r>
              <a:rPr lang="en-US" dirty="0" smtClean="0"/>
              <a:t>is correct for the selected </a:t>
            </a:r>
            <a:r>
              <a:rPr lang="en-US" dirty="0"/>
              <a:t>clock </a:t>
            </a:r>
            <a:r>
              <a:rPr lang="en-US" dirty="0" smtClean="0"/>
              <a:t>sources.</a:t>
            </a:r>
          </a:p>
          <a:p>
            <a:pPr lvl="1"/>
            <a:r>
              <a:rPr lang="en-US" dirty="0" smtClean="0"/>
              <a:t>Also check the reset signal, if it is pulled up or down correctly.</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1017" y="116632"/>
            <a:ext cx="8229600" cy="634082"/>
          </a:xfrm>
        </p:spPr>
        <p:txBody>
          <a:bodyPr/>
          <a:lstStyle/>
          <a:p>
            <a:r>
              <a:rPr lang="en-US" dirty="0"/>
              <a:t>Debugging, general tips</a:t>
            </a:r>
          </a:p>
        </p:txBody>
      </p:sp>
      <p:sp>
        <p:nvSpPr>
          <p:cNvPr id="3" name="Content Placeholder 2"/>
          <p:cNvSpPr>
            <a:spLocks noGrp="1"/>
          </p:cNvSpPr>
          <p:nvPr>
            <p:ph idx="1"/>
          </p:nvPr>
        </p:nvSpPr>
        <p:spPr>
          <a:xfrm>
            <a:off x="419720" y="746917"/>
            <a:ext cx="8229600" cy="5832648"/>
          </a:xfrm>
        </p:spPr>
        <p:txBody>
          <a:bodyPr/>
          <a:lstStyle/>
          <a:p>
            <a:r>
              <a:rPr lang="en-US" dirty="0"/>
              <a:t>You can also measure your software </a:t>
            </a:r>
            <a:r>
              <a:rPr lang="en-US" dirty="0" smtClean="0"/>
              <a:t>timings outside the </a:t>
            </a:r>
            <a:r>
              <a:rPr lang="en-US" dirty="0"/>
              <a:t>MCU </a:t>
            </a:r>
            <a:r>
              <a:rPr lang="en-US" dirty="0" smtClean="0"/>
              <a:t>by using some extra unused </a:t>
            </a:r>
            <a:r>
              <a:rPr lang="en-US" dirty="0"/>
              <a:t>MCU </a:t>
            </a:r>
            <a:r>
              <a:rPr lang="en-US" dirty="0" smtClean="0"/>
              <a:t>pins by toggling them, and an </a:t>
            </a:r>
            <a:r>
              <a:rPr lang="en-US" dirty="0"/>
              <a:t>oscilloscope / logic analyzer to check, for example:</a:t>
            </a:r>
          </a:p>
          <a:p>
            <a:pPr lvl="1"/>
            <a:r>
              <a:rPr lang="en-US" dirty="0"/>
              <a:t>How </a:t>
            </a:r>
            <a:r>
              <a:rPr lang="en-US" dirty="0" smtClean="0"/>
              <a:t>long an </a:t>
            </a:r>
            <a:r>
              <a:rPr lang="en-US" dirty="0"/>
              <a:t>interrupt loop lasts?</a:t>
            </a:r>
          </a:p>
          <a:p>
            <a:pPr lvl="1"/>
            <a:r>
              <a:rPr lang="en-US" dirty="0"/>
              <a:t>How often it triggers?</a:t>
            </a:r>
          </a:p>
          <a:p>
            <a:pPr lvl="2"/>
            <a:r>
              <a:rPr lang="en-US" dirty="0"/>
              <a:t>Spending too much time in interrupt </a:t>
            </a:r>
            <a:r>
              <a:rPr lang="en-US" dirty="0" smtClean="0"/>
              <a:t>routines or other loops </a:t>
            </a:r>
            <a:r>
              <a:rPr lang="en-US" dirty="0"/>
              <a:t>may prevent other code from executing.</a:t>
            </a:r>
          </a:p>
          <a:p>
            <a:r>
              <a:rPr lang="en-US" dirty="0"/>
              <a:t>In communication problems, </a:t>
            </a:r>
            <a:r>
              <a:rPr lang="en-US" dirty="0" smtClean="0"/>
              <a:t>also check </a:t>
            </a:r>
            <a:r>
              <a:rPr lang="en-US" dirty="0"/>
              <a:t>signals using an </a:t>
            </a:r>
            <a:r>
              <a:rPr lang="en-US" dirty="0" smtClean="0"/>
              <a:t>oscilloscope / analyzer</a:t>
            </a:r>
            <a:endParaRPr lang="en-US" dirty="0"/>
          </a:p>
          <a:p>
            <a:pPr lvl="1"/>
            <a:r>
              <a:rPr lang="en-US" dirty="0"/>
              <a:t>Are the signal waveforms ok in signal lines (no excessive over- / undershoot, ringing, noise, amplitude issues etc</a:t>
            </a:r>
            <a:r>
              <a:rPr lang="en-US" dirty="0" smtClean="0"/>
              <a:t>.)?</a:t>
            </a:r>
          </a:p>
          <a:p>
            <a:pPr lvl="1"/>
            <a:r>
              <a:rPr lang="en-US" dirty="0"/>
              <a:t>Does the line require a resistor to be added in series for smoothing the signal</a:t>
            </a:r>
            <a:r>
              <a:rPr lang="en-US" dirty="0" smtClean="0"/>
              <a:t>?</a:t>
            </a:r>
            <a:endParaRPr lang="en-US" dirty="0" smtClean="0"/>
          </a:p>
          <a:p>
            <a:pPr lvl="1"/>
            <a:r>
              <a:rPr lang="en-US" dirty="0" smtClean="0"/>
              <a:t>Are the timing and frequencies correct?</a:t>
            </a:r>
            <a:endParaRPr lang="en-US" dirty="0"/>
          </a:p>
          <a:p>
            <a:pPr lvl="1"/>
            <a:r>
              <a:rPr lang="en-US" dirty="0"/>
              <a:t>Is there a missing pull-up or pull-down resistor somewhere?</a:t>
            </a:r>
          </a:p>
          <a:p>
            <a:pPr lvl="1"/>
            <a:r>
              <a:rPr lang="en-US" dirty="0" smtClean="0"/>
              <a:t>Are </a:t>
            </a:r>
            <a:r>
              <a:rPr lang="en-US" dirty="0"/>
              <a:t>the voltage levels okay for logic / measurement inputs?</a:t>
            </a:r>
          </a:p>
        </p:txBody>
      </p:sp>
    </p:spTree>
    <p:extLst>
      <p:ext uri="{BB962C8B-B14F-4D97-AF65-F5344CB8AC3E}">
        <p14:creationId xmlns:p14="http://schemas.microsoft.com/office/powerpoint/2010/main" val="40585523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06090"/>
          </a:xfrm>
        </p:spPr>
        <p:txBody>
          <a:bodyPr/>
          <a:lstStyle/>
          <a:p>
            <a:r>
              <a:rPr lang="en-US" dirty="0" smtClean="0"/>
              <a:t>Final notes</a:t>
            </a:r>
            <a:endParaRPr lang="en-US" dirty="0"/>
          </a:p>
        </p:txBody>
      </p:sp>
      <p:sp>
        <p:nvSpPr>
          <p:cNvPr id="3" name="Content Placeholder 2"/>
          <p:cNvSpPr>
            <a:spLocks noGrp="1"/>
          </p:cNvSpPr>
          <p:nvPr>
            <p:ph idx="1"/>
          </p:nvPr>
        </p:nvSpPr>
        <p:spPr>
          <a:xfrm>
            <a:off x="457200" y="1052736"/>
            <a:ext cx="8229600" cy="5400600"/>
          </a:xfrm>
        </p:spPr>
        <p:txBody>
          <a:bodyPr/>
          <a:lstStyle/>
          <a:p>
            <a:r>
              <a:rPr lang="en-US" dirty="0" smtClean="0"/>
              <a:t>Note that there are lots of real-time OS’s and programming tools for most MCUs</a:t>
            </a:r>
          </a:p>
          <a:p>
            <a:pPr lvl="1"/>
            <a:r>
              <a:rPr lang="en-US" dirty="0" smtClean="0"/>
              <a:t>If you are familiar with something else than what is in these slides, or you think is better, in general it is allowed to be used. Just discuss / specify your choice with the assistants first.</a:t>
            </a:r>
          </a:p>
          <a:p>
            <a:pPr lvl="2"/>
            <a:r>
              <a:rPr lang="en-US" dirty="0" smtClean="0"/>
              <a:t>There will be less support available for environments the assistants have not used before.</a:t>
            </a:r>
          </a:p>
          <a:p>
            <a:r>
              <a:rPr lang="en-US" dirty="0" smtClean="0"/>
              <a:t>Everything borrowed must be returned after the course. Try not to modify the dev-kits themselves.</a:t>
            </a:r>
          </a:p>
          <a:p>
            <a:pPr lvl="1">
              <a:buFontTx/>
              <a:buChar char="-"/>
            </a:pPr>
            <a:r>
              <a:rPr lang="en-US" dirty="0" smtClean="0"/>
              <a:t>Maybe some </a:t>
            </a:r>
            <a:r>
              <a:rPr lang="en-US" dirty="0" smtClean="0"/>
              <a:t>dev-kit </a:t>
            </a:r>
            <a:r>
              <a:rPr lang="en-US" dirty="0" smtClean="0"/>
              <a:t>jumper settings may have to </a:t>
            </a:r>
            <a:r>
              <a:rPr lang="en-US" dirty="0" smtClean="0"/>
              <a:t>be changed, </a:t>
            </a:r>
            <a:r>
              <a:rPr lang="en-US" dirty="0" smtClean="0"/>
              <a:t>but revert any changes after the dev-kit is no longer needed.</a:t>
            </a:r>
          </a:p>
          <a:p>
            <a:pPr lvl="1">
              <a:buFontTx/>
              <a:buChar char="-"/>
            </a:pPr>
            <a:r>
              <a:rPr lang="en-US" dirty="0" smtClean="0"/>
              <a:t>If the dev-kit breaks or develops a fault, inform it to the assistants so a broken dev-kit won’t stay in circulation and cause headaches for students in the following years.</a:t>
            </a:r>
          </a:p>
        </p:txBody>
      </p:sp>
    </p:spTree>
    <p:extLst>
      <p:ext uri="{BB962C8B-B14F-4D97-AF65-F5344CB8AC3E}">
        <p14:creationId xmlns:p14="http://schemas.microsoft.com/office/powerpoint/2010/main" val="30499886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468313" y="2781300"/>
            <a:ext cx="8229600" cy="1143000"/>
          </a:xfrm>
        </p:spPr>
        <p:txBody>
          <a:bodyPr/>
          <a:lstStyle/>
          <a:p>
            <a:r>
              <a:rPr lang="en-US" altLang="fi-FI" dirty="0" smtClean="0"/>
              <a:t>Discussion</a:t>
            </a:r>
          </a:p>
        </p:txBody>
      </p:sp>
    </p:spTree>
  </p:cSld>
  <p:clrMapOvr>
    <a:masterClrMapping/>
  </p:clrMapOvr>
</p:sld>
</file>

<file path=ppt/theme/theme1.xml><?xml version="1.0" encoding="utf-8"?>
<a:theme xmlns:a="http://schemas.openxmlformats.org/drawingml/2006/main" name="Default Design">
  <a:themeElements>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16827</TotalTime>
  <Words>2723</Words>
  <Application>Microsoft Office PowerPoint</Application>
  <PresentationFormat>On-screen Show (4:3)</PresentationFormat>
  <Paragraphs>169</Paragraphs>
  <Slides>22</Slides>
  <Notes>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22</vt:i4>
      </vt:variant>
    </vt:vector>
  </HeadingPairs>
  <TitlesOfParts>
    <vt:vector size="24" baseType="lpstr">
      <vt:lpstr>Arial</vt:lpstr>
      <vt:lpstr>Default Design</vt:lpstr>
      <vt:lpstr>Embedded Systems Project (521423S) -  Software</vt:lpstr>
      <vt:lpstr>Design phases</vt:lpstr>
      <vt:lpstr>Getting started</vt:lpstr>
      <vt:lpstr>Getting started, programming HW</vt:lpstr>
      <vt:lpstr>Software design tips</vt:lpstr>
      <vt:lpstr>Software design tips</vt:lpstr>
      <vt:lpstr>Files and modules</vt:lpstr>
      <vt:lpstr>Some more general tips</vt:lpstr>
      <vt:lpstr>Some more general tips</vt:lpstr>
      <vt:lpstr>Getting started, Arduino</vt:lpstr>
      <vt:lpstr>Getting started, Arduino</vt:lpstr>
      <vt:lpstr>Getting started, STM32Cube</vt:lpstr>
      <vt:lpstr>Getting started, STM32Cube</vt:lpstr>
      <vt:lpstr>Getting started, PlatformIO</vt:lpstr>
      <vt:lpstr>Getting started, Mbed</vt:lpstr>
      <vt:lpstr>Debugging</vt:lpstr>
      <vt:lpstr>Debugging</vt:lpstr>
      <vt:lpstr>Debugging, general tips</vt:lpstr>
      <vt:lpstr>Debugging, general tips</vt:lpstr>
      <vt:lpstr>Debugging, general tips</vt:lpstr>
      <vt:lpstr>Final notes</vt:lpstr>
      <vt:lpstr>Discussion</vt:lpstr>
    </vt:vector>
  </TitlesOfParts>
  <Company>University of Oulu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Embedded System Project (521423S)</dc:title>
  <dc:creator>tech</dc:creator>
  <cp:lastModifiedBy>Marko Kauppinen</cp:lastModifiedBy>
  <cp:revision>1007</cp:revision>
  <dcterms:created xsi:type="dcterms:W3CDTF">2008-01-21T13:24:59Z</dcterms:created>
  <dcterms:modified xsi:type="dcterms:W3CDTF">2026-03-19T14:37:43Z</dcterms:modified>
</cp:coreProperties>
</file>